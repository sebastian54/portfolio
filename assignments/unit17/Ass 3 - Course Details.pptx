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varScale="1">
        <p:scale>
          <a:sx n="114" d="100"/>
          <a:sy n="114" d="100"/>
        </p:scale>
        <p:origin x="47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505D9A-0944-406F-A336-6E8DA95C2D97}" type="datetimeFigureOut">
              <a:rPr lang="en-GB" smtClean="0"/>
              <a:t>15/02/2022</a:t>
            </a:fld>
            <a:endParaRPr lang="en-GB"/>
          </a:p>
        </p:txBody>
      </p:sp>
      <p:sp>
        <p:nvSpPr>
          <p:cNvPr id="5" name="Footer Placeholder 4"/>
          <p:cNvSpPr>
            <a:spLocks noGrp="1"/>
          </p:cNvSpPr>
          <p:nvPr>
            <p:ph type="ftr" sz="quarter" idx="11"/>
          </p:nvPr>
        </p:nvSpPr>
        <p:spPr>
          <a:xfrm>
            <a:off x="2416500" y="329307"/>
            <a:ext cx="4973915" cy="309201"/>
          </a:xfrm>
        </p:spPr>
        <p:txBody>
          <a:bodyPr/>
          <a:lstStyle/>
          <a:p>
            <a:endParaRPr lang="en-GB"/>
          </a:p>
        </p:txBody>
      </p:sp>
      <p:sp>
        <p:nvSpPr>
          <p:cNvPr id="6" name="Slide Number Placeholder 5"/>
          <p:cNvSpPr>
            <a:spLocks noGrp="1"/>
          </p:cNvSpPr>
          <p:nvPr>
            <p:ph type="sldNum" sz="quarter" idx="12"/>
          </p:nvPr>
        </p:nvSpPr>
        <p:spPr>
          <a:xfrm>
            <a:off x="1437664" y="798973"/>
            <a:ext cx="811019" cy="503578"/>
          </a:xfrm>
        </p:spPr>
        <p:txBody>
          <a:bodyPr/>
          <a:lstStyle/>
          <a:p>
            <a:fld id="{A00C023F-5CAF-47BD-9427-5D25C67BF886}" type="slidenum">
              <a:rPr lang="en-GB" smtClean="0"/>
              <a:t>‹#›</a:t>
            </a:fld>
            <a:endParaRPr lang="en-GB"/>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33601503"/>
      </p:ext>
    </p:extLst>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505D9A-0944-406F-A336-6E8DA95C2D97}" type="datetimeFigureOut">
              <a:rPr lang="en-GB" smtClean="0"/>
              <a:t>15/02/2022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00C023F-5CAF-47BD-9427-5D25C67BF886}" type="slidenum">
              <a:rPr lang="en-GB" smtClean="0"/>
              <a:t>‹#›</a:t>
            </a:fld>
            <a:endParaRPr lang="en-GB"/>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97449434"/>
      </p:ext>
    </p:extLst>
  </p:cSld>
  <p:clrMapOvr>
    <a:masterClrMapping/>
  </p:clrMapOvr>
  <p:transition spd="slow">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A505D9A-0944-406F-A336-6E8DA95C2D97}" type="datetimeFigureOut">
              <a:rPr lang="en-GB" smtClean="0"/>
              <a:t>15/02/2022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00C023F-5CAF-47BD-9427-5D25C67BF886}" type="slidenum">
              <a:rPr lang="en-GB" smtClean="0"/>
              <a:t>‹#›</a:t>
            </a:fld>
            <a:endParaRPr lang="en-GB"/>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62542539"/>
      </p:ext>
    </p:extLst>
  </p:cSld>
  <p:clrMapOvr>
    <a:masterClrMapping/>
  </p:clrMapOvr>
  <p:transition spd="slow">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A505D9A-0944-406F-A336-6E8DA95C2D97}" type="datetimeFigureOut">
              <a:rPr lang="en-GB" smtClean="0"/>
              <a:t>15/02/2022</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00C023F-5CAF-47BD-9427-5D25C67BF886}" type="slidenum">
              <a:rPr lang="en-GB" smtClean="0"/>
              <a:t>‹#›</a:t>
            </a:fld>
            <a:endParaRPr lang="en-GB"/>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62830736"/>
      </p:ext>
    </p:extLst>
  </p:cSld>
  <p:clrMapOvr>
    <a:masterClrMapping/>
  </p:clrMapOvr>
  <p:transition spd="slow">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A505D9A-0944-406F-A336-6E8DA95C2D97}" type="datetimeFigureOut">
              <a:rPr lang="en-GB" smtClean="0"/>
              <a:t>15/02/2022</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A00C023F-5CAF-47BD-9427-5D25C67BF886}" type="slidenum">
              <a:rPr lang="en-GB" smtClean="0"/>
              <a:t>‹#›</a:t>
            </a:fld>
            <a:endParaRPr lang="en-GB"/>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35574064"/>
      </p:ext>
    </p:extLst>
  </p:cSld>
  <p:clrMapOvr>
    <a:masterClrMapping/>
  </p:clrMapOvr>
  <p:transition spd="slow">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A505D9A-0944-406F-A336-6E8DA95C2D97}" type="datetimeFigureOut">
              <a:rPr lang="en-GB" smtClean="0"/>
              <a:t>15/02/2022</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A00C023F-5CAF-47BD-9427-5D25C67BF886}" type="slidenum">
              <a:rPr lang="en-GB" smtClean="0"/>
              <a:t>‹#›</a:t>
            </a:fld>
            <a:endParaRPr lang="en-GB"/>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94052024"/>
      </p:ext>
    </p:extLst>
  </p:cSld>
  <p:clrMapOvr>
    <a:masterClrMapping/>
  </p:clrMapOvr>
  <p:transition spd="slow">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A505D9A-0944-406F-A336-6E8DA95C2D97}" type="datetimeFigureOut">
              <a:rPr lang="en-GB" smtClean="0"/>
              <a:t>15/02/2022</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A00C023F-5CAF-47BD-9427-5D25C67BF886}" type="slidenum">
              <a:rPr lang="en-GB" smtClean="0"/>
              <a:t>‹#›</a:t>
            </a:fld>
            <a:endParaRPr lang="en-GB"/>
          </a:p>
        </p:txBody>
      </p:sp>
    </p:spTree>
    <p:extLst>
      <p:ext uri="{BB962C8B-B14F-4D97-AF65-F5344CB8AC3E}">
        <p14:creationId xmlns:p14="http://schemas.microsoft.com/office/powerpoint/2010/main" val="427146535"/>
      </p:ext>
    </p:extLst>
  </p:cSld>
  <p:clrMapOvr>
    <a:masterClrMapping/>
  </p:clrMapOvr>
  <p:transition spd="slow">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A505D9A-0944-406F-A336-6E8DA95C2D97}" type="datetimeFigureOut">
              <a:rPr lang="en-GB" smtClean="0"/>
              <a:t>15/02/2022</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00C023F-5CAF-47BD-9427-5D25C67BF886}" type="slidenum">
              <a:rPr lang="en-GB" smtClean="0"/>
              <a:t>‹#›</a:t>
            </a:fld>
            <a:endParaRPr lang="en-GB"/>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57440519"/>
      </p:ext>
    </p:extLst>
  </p:cSld>
  <p:clrMapOvr>
    <a:masterClrMapping/>
  </p:clrMapOvr>
  <p:transition spd="slow">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4A505D9A-0944-406F-A336-6E8DA95C2D97}" type="datetimeFigureOut">
              <a:rPr lang="en-GB" smtClean="0"/>
              <a:t>15/02/2022</a:t>
            </a:fld>
            <a:endParaRPr lang="en-GB"/>
          </a:p>
        </p:txBody>
      </p:sp>
      <p:sp>
        <p:nvSpPr>
          <p:cNvPr id="6" name="Footer Placeholder 5"/>
          <p:cNvSpPr>
            <a:spLocks noGrp="1"/>
          </p:cNvSpPr>
          <p:nvPr>
            <p:ph type="ftr" sz="quarter" idx="11"/>
          </p:nvPr>
        </p:nvSpPr>
        <p:spPr>
          <a:xfrm>
            <a:off x="1447382" y="318640"/>
            <a:ext cx="5541004" cy="320931"/>
          </a:xfrm>
        </p:spPr>
        <p:txBody>
          <a:bodyPr/>
          <a:lstStyle/>
          <a:p>
            <a:endParaRPr lang="en-GB"/>
          </a:p>
        </p:txBody>
      </p:sp>
      <p:sp>
        <p:nvSpPr>
          <p:cNvPr id="7" name="Slide Number Placeholder 6"/>
          <p:cNvSpPr>
            <a:spLocks noGrp="1"/>
          </p:cNvSpPr>
          <p:nvPr>
            <p:ph type="sldNum" sz="quarter" idx="12"/>
          </p:nvPr>
        </p:nvSpPr>
        <p:spPr/>
        <p:txBody>
          <a:bodyPr/>
          <a:lstStyle/>
          <a:p>
            <a:fld id="{A00C023F-5CAF-47BD-9427-5D25C67BF886}" type="slidenum">
              <a:rPr lang="en-GB" smtClean="0"/>
              <a:t>‹#›</a:t>
            </a:fld>
            <a:endParaRPr lang="en-GB"/>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76890031"/>
      </p:ext>
    </p:extLst>
  </p:cSld>
  <p:clrMapOvr>
    <a:masterClrMapping/>
  </p:clrMapOvr>
  <p:transition spd="slow">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505D9A-0944-406F-A336-6E8DA95C2D97}" type="datetimeFigureOut">
              <a:rPr lang="en-GB" smtClean="0"/>
              <a:t>15/02/2022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00C023F-5CAF-47BD-9427-5D25C67BF886}" type="slidenum">
              <a:rPr lang="en-GB" smtClean="0"/>
              <a:t>‹#›</a:t>
            </a:fld>
            <a:endParaRPr lang="en-GB"/>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38079612"/>
      </p:ext>
    </p:extLst>
  </p:cSld>
  <p:clrMapOvr>
    <a:masterClrMapping/>
  </p:clrMapOvr>
  <p:transition spd="slow">
    <p:push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505D9A-0944-406F-A336-6E8DA95C2D97}" type="datetimeFigureOut">
              <a:rPr lang="en-GB" smtClean="0"/>
              <a:t>15/02/2022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00C023F-5CAF-47BD-9427-5D25C67BF886}" type="slidenum">
              <a:rPr lang="en-GB" smtClean="0"/>
              <a:t>‹#›</a:t>
            </a:fld>
            <a:endParaRPr lang="en-GB"/>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31775086"/>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A505D9A-0944-406F-A336-6E8DA95C2D97}" type="datetimeFigureOut">
              <a:rPr lang="en-GB" smtClean="0"/>
              <a:t>15/02/2022</a:t>
            </a:fld>
            <a:endParaRPr lang="en-GB"/>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A00C023F-5CAF-47BD-9427-5D25C67BF886}" type="slidenum">
              <a:rPr lang="en-GB" smtClean="0"/>
              <a:t>‹#›</a:t>
            </a:fld>
            <a:endParaRPr lang="en-GB"/>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352568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spd="slow">
    <p:push dir="u"/>
  </p:transition>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D8318-4F9F-4DE1-A157-A38896E6C488}"/>
              </a:ext>
            </a:extLst>
          </p:cNvPr>
          <p:cNvSpPr>
            <a:spLocks noGrp="1"/>
          </p:cNvSpPr>
          <p:nvPr>
            <p:ph type="ctrTitle"/>
          </p:nvPr>
        </p:nvSpPr>
        <p:spPr>
          <a:xfrm>
            <a:off x="1524000" y="4278385"/>
            <a:ext cx="9144000" cy="1253324"/>
          </a:xfrm>
        </p:spPr>
        <p:txBody>
          <a:bodyPr>
            <a:noAutofit/>
          </a:bodyPr>
          <a:lstStyle/>
          <a:p>
            <a:pPr algn="ctr"/>
            <a:r>
              <a:rPr lang="en-US" sz="5400" dirty="0"/>
              <a:t>First Diploma ICT Level 2</a:t>
            </a:r>
            <a:endParaRPr lang="en-GB" sz="5400" dirty="0"/>
          </a:p>
        </p:txBody>
      </p:sp>
      <p:pic>
        <p:nvPicPr>
          <p:cNvPr id="1026" name="Picture 2" descr="College life myth buster – Get the facts! - Coleg Gwent">
            <a:extLst>
              <a:ext uri="{FF2B5EF4-FFF2-40B4-BE49-F238E27FC236}">
                <a16:creationId xmlns:a16="http://schemas.microsoft.com/office/drawing/2014/main" id="{1D0947BD-F306-4B92-A30B-E38C5AB675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34153" y="244202"/>
            <a:ext cx="7723694" cy="30894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9252930"/>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89C0E-DCD1-4A61-8EC0-96BAE248D61D}"/>
              </a:ext>
            </a:extLst>
          </p:cNvPr>
          <p:cNvSpPr>
            <a:spLocks noGrp="1"/>
          </p:cNvSpPr>
          <p:nvPr>
            <p:ph type="title"/>
          </p:nvPr>
        </p:nvSpPr>
        <p:spPr/>
        <p:txBody>
          <a:bodyPr/>
          <a:lstStyle/>
          <a:p>
            <a:r>
              <a:rPr lang="en-US" dirty="0"/>
              <a:t>Index</a:t>
            </a:r>
            <a:endParaRPr lang="en-GB" dirty="0"/>
          </a:p>
        </p:txBody>
      </p:sp>
      <p:sp>
        <p:nvSpPr>
          <p:cNvPr id="3" name="Content Placeholder 2">
            <a:extLst>
              <a:ext uri="{FF2B5EF4-FFF2-40B4-BE49-F238E27FC236}">
                <a16:creationId xmlns:a16="http://schemas.microsoft.com/office/drawing/2014/main" id="{9285DB3A-461D-475D-A95B-6607CCEE4298}"/>
              </a:ext>
            </a:extLst>
          </p:cNvPr>
          <p:cNvSpPr>
            <a:spLocks noGrp="1"/>
          </p:cNvSpPr>
          <p:nvPr>
            <p:ph idx="1"/>
          </p:nvPr>
        </p:nvSpPr>
        <p:spPr>
          <a:xfrm>
            <a:off x="2816513" y="1958829"/>
            <a:ext cx="3122272" cy="2911192"/>
          </a:xfrm>
        </p:spPr>
        <p:txBody>
          <a:bodyPr>
            <a:normAutofit/>
          </a:bodyPr>
          <a:lstStyle/>
          <a:p>
            <a:r>
              <a:rPr lang="en-US" sz="1400" dirty="0">
                <a:solidFill>
                  <a:schemeClr val="accent1">
                    <a:lumMod val="60000"/>
                    <a:lumOff val="40000"/>
                  </a:schemeClr>
                </a:solidFill>
                <a:hlinkClick r:id="rId2" action="ppaction://hlinksldjump">
                  <a:extLst>
                    <a:ext uri="{A12FA001-AC4F-418D-AE19-62706E023703}">
                      <ahyp:hlinkClr xmlns:ahyp="http://schemas.microsoft.com/office/drawing/2018/hyperlinkcolor" val="tx"/>
                    </a:ext>
                  </a:extLst>
                </a:hlinkClick>
              </a:rPr>
              <a:t>Introduction</a:t>
            </a:r>
            <a:endParaRPr lang="en-US" sz="1400" dirty="0">
              <a:solidFill>
                <a:schemeClr val="accent1">
                  <a:lumMod val="60000"/>
                  <a:lumOff val="40000"/>
                </a:schemeClr>
              </a:solidFill>
            </a:endParaRPr>
          </a:p>
          <a:p>
            <a:r>
              <a:rPr lang="en-US" sz="1400" dirty="0">
                <a:solidFill>
                  <a:schemeClr val="accent1">
                    <a:lumMod val="60000"/>
                    <a:lumOff val="40000"/>
                  </a:schemeClr>
                </a:solidFill>
                <a:hlinkClick r:id="" action="ppaction://noaction">
                  <a:extLst>
                    <a:ext uri="{A12FA001-AC4F-418D-AE19-62706E023703}">
                      <ahyp:hlinkClr xmlns:ahyp="http://schemas.microsoft.com/office/drawing/2018/hyperlinkcolor" val="tx"/>
                    </a:ext>
                  </a:extLst>
                </a:hlinkClick>
              </a:rPr>
              <a:t>Why the course is for you </a:t>
            </a:r>
            <a:endParaRPr lang="en-US" sz="1400" dirty="0">
              <a:solidFill>
                <a:schemeClr val="accent1">
                  <a:lumMod val="60000"/>
                  <a:lumOff val="40000"/>
                </a:schemeClr>
              </a:solidFill>
            </a:endParaRPr>
          </a:p>
          <a:p>
            <a:r>
              <a:rPr lang="en-US" sz="1400" dirty="0">
                <a:solidFill>
                  <a:schemeClr val="accent1">
                    <a:lumMod val="60000"/>
                    <a:lumOff val="40000"/>
                  </a:schemeClr>
                </a:solidFill>
                <a:hlinkClick r:id="" action="ppaction://noaction">
                  <a:extLst>
                    <a:ext uri="{A12FA001-AC4F-418D-AE19-62706E023703}">
                      <ahyp:hlinkClr xmlns:ahyp="http://schemas.microsoft.com/office/drawing/2018/hyperlinkcolor" val="tx"/>
                    </a:ext>
                  </a:extLst>
                </a:hlinkClick>
              </a:rPr>
              <a:t>What qualifications you will need </a:t>
            </a:r>
            <a:endParaRPr lang="en-US" sz="1400" dirty="0">
              <a:solidFill>
                <a:schemeClr val="accent1">
                  <a:lumMod val="60000"/>
                  <a:lumOff val="40000"/>
                </a:schemeClr>
              </a:solidFill>
            </a:endParaRPr>
          </a:p>
          <a:p>
            <a:r>
              <a:rPr lang="en-US" sz="1400" dirty="0">
                <a:solidFill>
                  <a:schemeClr val="accent1">
                    <a:lumMod val="60000"/>
                    <a:lumOff val="40000"/>
                  </a:schemeClr>
                </a:solidFill>
                <a:hlinkClick r:id="" action="ppaction://noaction">
                  <a:extLst>
                    <a:ext uri="{A12FA001-AC4F-418D-AE19-62706E023703}">
                      <ahyp:hlinkClr xmlns:ahyp="http://schemas.microsoft.com/office/drawing/2018/hyperlinkcolor" val="tx"/>
                    </a:ext>
                  </a:extLst>
                </a:hlinkClick>
              </a:rPr>
              <a:t>What is in the course</a:t>
            </a:r>
            <a:endParaRPr lang="en-US" sz="1400" dirty="0">
              <a:solidFill>
                <a:schemeClr val="accent1">
                  <a:lumMod val="60000"/>
                  <a:lumOff val="40000"/>
                </a:schemeClr>
              </a:solidFill>
            </a:endParaRPr>
          </a:p>
          <a:p>
            <a:r>
              <a:rPr lang="en-US" sz="1400" dirty="0">
                <a:solidFill>
                  <a:schemeClr val="accent1">
                    <a:lumMod val="60000"/>
                    <a:lumOff val="40000"/>
                  </a:schemeClr>
                </a:solidFill>
                <a:hlinkClick r:id="" action="ppaction://noaction">
                  <a:extLst>
                    <a:ext uri="{A12FA001-AC4F-418D-AE19-62706E023703}">
                      <ahyp:hlinkClr xmlns:ahyp="http://schemas.microsoft.com/office/drawing/2018/hyperlinkcolor" val="tx"/>
                    </a:ext>
                  </a:extLst>
                </a:hlinkClick>
              </a:rPr>
              <a:t>Unit One</a:t>
            </a:r>
            <a:endParaRPr lang="en-US" sz="1400" dirty="0">
              <a:solidFill>
                <a:schemeClr val="accent1">
                  <a:lumMod val="60000"/>
                  <a:lumOff val="40000"/>
                </a:schemeClr>
              </a:solidFill>
            </a:endParaRPr>
          </a:p>
          <a:p>
            <a:r>
              <a:rPr lang="en-US" sz="1400" dirty="0">
                <a:solidFill>
                  <a:schemeClr val="accent1">
                    <a:lumMod val="60000"/>
                    <a:lumOff val="40000"/>
                  </a:schemeClr>
                </a:solidFill>
                <a:hlinkClick r:id="" action="ppaction://noaction">
                  <a:extLst>
                    <a:ext uri="{A12FA001-AC4F-418D-AE19-62706E023703}">
                      <ahyp:hlinkClr xmlns:ahyp="http://schemas.microsoft.com/office/drawing/2018/hyperlinkcolor" val="tx"/>
                    </a:ext>
                  </a:extLst>
                </a:hlinkClick>
              </a:rPr>
              <a:t>Unit Two</a:t>
            </a:r>
            <a:endParaRPr lang="en-US" sz="1400" dirty="0">
              <a:solidFill>
                <a:schemeClr val="accent1">
                  <a:lumMod val="60000"/>
                  <a:lumOff val="40000"/>
                </a:schemeClr>
              </a:solidFill>
            </a:endParaRPr>
          </a:p>
          <a:p>
            <a:r>
              <a:rPr lang="en-US" sz="1400" dirty="0">
                <a:solidFill>
                  <a:schemeClr val="accent1">
                    <a:lumMod val="60000"/>
                    <a:lumOff val="40000"/>
                  </a:schemeClr>
                </a:solidFill>
                <a:hlinkClick r:id="" action="ppaction://noaction">
                  <a:extLst>
                    <a:ext uri="{A12FA001-AC4F-418D-AE19-62706E023703}">
                      <ahyp:hlinkClr xmlns:ahyp="http://schemas.microsoft.com/office/drawing/2018/hyperlinkcolor" val="tx"/>
                    </a:ext>
                  </a:extLst>
                </a:hlinkClick>
              </a:rPr>
              <a:t>Unit Three</a:t>
            </a:r>
            <a:endParaRPr lang="en-US" sz="1400" dirty="0">
              <a:solidFill>
                <a:schemeClr val="accent1">
                  <a:lumMod val="60000"/>
                  <a:lumOff val="40000"/>
                </a:schemeClr>
              </a:solidFill>
            </a:endParaRPr>
          </a:p>
          <a:p>
            <a:pPr marL="0" indent="0">
              <a:buNone/>
            </a:pPr>
            <a:endParaRPr lang="en-GB" sz="1400" dirty="0">
              <a:solidFill>
                <a:schemeClr val="accent1">
                  <a:lumMod val="60000"/>
                  <a:lumOff val="40000"/>
                </a:schemeClr>
              </a:solidFill>
            </a:endParaRPr>
          </a:p>
        </p:txBody>
      </p:sp>
      <p:sp>
        <p:nvSpPr>
          <p:cNvPr id="5" name="Content Placeholder 2">
            <a:extLst>
              <a:ext uri="{FF2B5EF4-FFF2-40B4-BE49-F238E27FC236}">
                <a16:creationId xmlns:a16="http://schemas.microsoft.com/office/drawing/2014/main" id="{ACC4662D-83DE-4381-ACB3-BF9179573AF0}"/>
              </a:ext>
            </a:extLst>
          </p:cNvPr>
          <p:cNvSpPr txBox="1">
            <a:spLocks/>
          </p:cNvSpPr>
          <p:nvPr/>
        </p:nvSpPr>
        <p:spPr>
          <a:xfrm>
            <a:off x="6253216" y="1973404"/>
            <a:ext cx="3474610" cy="2911192"/>
          </a:xfrm>
          <a:prstGeom prst="rect">
            <a:avLst/>
          </a:prstGeom>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r>
              <a:rPr lang="en-US" sz="1400" dirty="0">
                <a:solidFill>
                  <a:schemeClr val="accent1">
                    <a:lumMod val="60000"/>
                    <a:lumOff val="40000"/>
                  </a:schemeClr>
                </a:solidFill>
                <a:hlinkClick r:id="" action="ppaction://noaction">
                  <a:extLst>
                    <a:ext uri="{A12FA001-AC4F-418D-AE19-62706E023703}">
                      <ahyp:hlinkClr xmlns:ahyp="http://schemas.microsoft.com/office/drawing/2018/hyperlinkcolor" val="tx"/>
                    </a:ext>
                  </a:extLst>
                </a:hlinkClick>
              </a:rPr>
              <a:t>Unit Ten</a:t>
            </a:r>
            <a:endParaRPr lang="en-US" sz="1400" dirty="0">
              <a:solidFill>
                <a:schemeClr val="accent1">
                  <a:lumMod val="60000"/>
                  <a:lumOff val="40000"/>
                </a:schemeClr>
              </a:solidFill>
            </a:endParaRPr>
          </a:p>
          <a:p>
            <a:r>
              <a:rPr lang="en-US" sz="1400" dirty="0">
                <a:solidFill>
                  <a:schemeClr val="accent1">
                    <a:lumMod val="60000"/>
                    <a:lumOff val="40000"/>
                  </a:schemeClr>
                </a:solidFill>
                <a:hlinkClick r:id="" action="ppaction://noaction">
                  <a:extLst>
                    <a:ext uri="{A12FA001-AC4F-418D-AE19-62706E023703}">
                      <ahyp:hlinkClr xmlns:ahyp="http://schemas.microsoft.com/office/drawing/2018/hyperlinkcolor" val="tx"/>
                    </a:ext>
                  </a:extLst>
                </a:hlinkClick>
              </a:rPr>
              <a:t>Unit Twelve</a:t>
            </a:r>
            <a:endParaRPr lang="en-US" sz="1400" dirty="0">
              <a:solidFill>
                <a:schemeClr val="accent1">
                  <a:lumMod val="60000"/>
                  <a:lumOff val="40000"/>
                </a:schemeClr>
              </a:solidFill>
            </a:endParaRPr>
          </a:p>
          <a:p>
            <a:r>
              <a:rPr lang="en-US" sz="1400" dirty="0">
                <a:solidFill>
                  <a:schemeClr val="accent1">
                    <a:lumMod val="60000"/>
                    <a:lumOff val="40000"/>
                  </a:schemeClr>
                </a:solidFill>
                <a:hlinkClick r:id="" action="ppaction://noaction">
                  <a:extLst>
                    <a:ext uri="{A12FA001-AC4F-418D-AE19-62706E023703}">
                      <ahyp:hlinkClr xmlns:ahyp="http://schemas.microsoft.com/office/drawing/2018/hyperlinkcolor" val="tx"/>
                    </a:ext>
                  </a:extLst>
                </a:hlinkClick>
              </a:rPr>
              <a:t>Unit Thirteen </a:t>
            </a:r>
            <a:endParaRPr lang="en-US" sz="1400" dirty="0">
              <a:solidFill>
                <a:schemeClr val="accent1">
                  <a:lumMod val="60000"/>
                  <a:lumOff val="40000"/>
                </a:schemeClr>
              </a:solidFill>
            </a:endParaRPr>
          </a:p>
          <a:p>
            <a:r>
              <a:rPr lang="en-US" sz="1400" dirty="0">
                <a:solidFill>
                  <a:schemeClr val="accent1">
                    <a:lumMod val="60000"/>
                    <a:lumOff val="40000"/>
                  </a:schemeClr>
                </a:solidFill>
                <a:hlinkClick r:id="" action="ppaction://noaction">
                  <a:extLst>
                    <a:ext uri="{A12FA001-AC4F-418D-AE19-62706E023703}">
                      <ahyp:hlinkClr xmlns:ahyp="http://schemas.microsoft.com/office/drawing/2018/hyperlinkcolor" val="tx"/>
                    </a:ext>
                  </a:extLst>
                </a:hlinkClick>
              </a:rPr>
              <a:t>Unit Seventeen </a:t>
            </a:r>
            <a:endParaRPr lang="en-US" sz="1400" dirty="0">
              <a:solidFill>
                <a:schemeClr val="accent1">
                  <a:lumMod val="60000"/>
                  <a:lumOff val="40000"/>
                </a:schemeClr>
              </a:solidFill>
            </a:endParaRPr>
          </a:p>
          <a:p>
            <a:r>
              <a:rPr lang="en-US" sz="1400" dirty="0">
                <a:solidFill>
                  <a:schemeClr val="accent1">
                    <a:lumMod val="60000"/>
                    <a:lumOff val="40000"/>
                  </a:schemeClr>
                </a:solidFill>
                <a:hlinkClick r:id="" action="ppaction://noaction">
                  <a:extLst>
                    <a:ext uri="{A12FA001-AC4F-418D-AE19-62706E023703}">
                      <ahyp:hlinkClr xmlns:ahyp="http://schemas.microsoft.com/office/drawing/2018/hyperlinkcolor" val="tx"/>
                    </a:ext>
                  </a:extLst>
                </a:hlinkClick>
              </a:rPr>
              <a:t>Unit Nineteen</a:t>
            </a:r>
            <a:endParaRPr lang="en-US" sz="1400" dirty="0">
              <a:solidFill>
                <a:schemeClr val="accent1">
                  <a:lumMod val="60000"/>
                  <a:lumOff val="40000"/>
                </a:schemeClr>
              </a:solidFill>
            </a:endParaRPr>
          </a:p>
          <a:p>
            <a:r>
              <a:rPr lang="en-US" sz="1400" dirty="0">
                <a:solidFill>
                  <a:schemeClr val="accent1">
                    <a:lumMod val="60000"/>
                    <a:lumOff val="40000"/>
                  </a:schemeClr>
                </a:solidFill>
                <a:hlinkClick r:id="" action="ppaction://noaction">
                  <a:extLst>
                    <a:ext uri="{A12FA001-AC4F-418D-AE19-62706E023703}">
                      <ahyp:hlinkClr xmlns:ahyp="http://schemas.microsoft.com/office/drawing/2018/hyperlinkcolor" val="tx"/>
                    </a:ext>
                  </a:extLst>
                </a:hlinkClick>
              </a:rPr>
              <a:t>Unit Twenty-One</a:t>
            </a:r>
            <a:endParaRPr lang="en-US" sz="1400" dirty="0">
              <a:solidFill>
                <a:schemeClr val="accent1">
                  <a:lumMod val="60000"/>
                  <a:lumOff val="40000"/>
                </a:schemeClr>
              </a:solidFill>
            </a:endParaRPr>
          </a:p>
          <a:p>
            <a:r>
              <a:rPr lang="en-US" sz="1400" dirty="0">
                <a:solidFill>
                  <a:schemeClr val="accent1">
                    <a:lumMod val="60000"/>
                    <a:lumOff val="40000"/>
                  </a:schemeClr>
                </a:solidFill>
                <a:hlinkClick r:id="" action="ppaction://noaction">
                  <a:extLst>
                    <a:ext uri="{A12FA001-AC4F-418D-AE19-62706E023703}">
                      <ahyp:hlinkClr xmlns:ahyp="http://schemas.microsoft.com/office/drawing/2018/hyperlinkcolor" val="tx"/>
                    </a:ext>
                  </a:extLst>
                </a:hlinkClick>
              </a:rPr>
              <a:t>Course Teachers</a:t>
            </a:r>
            <a:endParaRPr lang="en-US" sz="1400" dirty="0">
              <a:solidFill>
                <a:schemeClr val="accent1">
                  <a:lumMod val="60000"/>
                  <a:lumOff val="40000"/>
                </a:schemeClr>
              </a:solidFill>
            </a:endParaRPr>
          </a:p>
        </p:txBody>
      </p:sp>
    </p:spTree>
    <p:extLst>
      <p:ext uri="{BB962C8B-B14F-4D97-AF65-F5344CB8AC3E}">
        <p14:creationId xmlns:p14="http://schemas.microsoft.com/office/powerpoint/2010/main" val="1740307924"/>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85B12-74A7-4D39-8699-2252CBF2BB7D}"/>
              </a:ext>
            </a:extLst>
          </p:cNvPr>
          <p:cNvSpPr>
            <a:spLocks noGrp="1"/>
          </p:cNvSpPr>
          <p:nvPr>
            <p:ph type="title"/>
          </p:nvPr>
        </p:nvSpPr>
        <p:spPr/>
        <p:txBody>
          <a:bodyPr/>
          <a:lstStyle/>
          <a:p>
            <a:r>
              <a:rPr lang="en-US" dirty="0"/>
              <a:t>Introduction</a:t>
            </a:r>
            <a:endParaRPr lang="en-GB" dirty="0"/>
          </a:p>
        </p:txBody>
      </p:sp>
      <p:sp>
        <p:nvSpPr>
          <p:cNvPr id="3" name="Content Placeholder 2">
            <a:extLst>
              <a:ext uri="{FF2B5EF4-FFF2-40B4-BE49-F238E27FC236}">
                <a16:creationId xmlns:a16="http://schemas.microsoft.com/office/drawing/2014/main" id="{1CDA1697-45BF-4D56-8FB5-62B68E790B09}"/>
              </a:ext>
            </a:extLst>
          </p:cNvPr>
          <p:cNvSpPr>
            <a:spLocks noGrp="1"/>
          </p:cNvSpPr>
          <p:nvPr>
            <p:ph idx="1"/>
          </p:nvPr>
        </p:nvSpPr>
        <p:spPr/>
        <p:txBody>
          <a:bodyPr/>
          <a:lstStyle/>
          <a:p>
            <a:r>
              <a:rPr lang="en-US" dirty="0"/>
              <a:t>In this presentation, you will find information regarding the course, and what you should expect for when you arrive to college and begin taking part.</a:t>
            </a:r>
          </a:p>
          <a:p>
            <a:r>
              <a:rPr lang="en-US" dirty="0"/>
              <a:t>You will have a great opportunity to gain a broad knowledge and understanding of,  and develop skins in the Information Technology sector and even some aspects of the creative industries sector.</a:t>
            </a:r>
            <a:endParaRPr lang="en-GB" dirty="0"/>
          </a:p>
        </p:txBody>
      </p:sp>
    </p:spTree>
    <p:extLst>
      <p:ext uri="{BB962C8B-B14F-4D97-AF65-F5344CB8AC3E}">
        <p14:creationId xmlns:p14="http://schemas.microsoft.com/office/powerpoint/2010/main" val="3125056039"/>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BFDA1-69AB-464F-A85D-FD189EA47546}"/>
              </a:ext>
            </a:extLst>
          </p:cNvPr>
          <p:cNvSpPr>
            <a:spLocks noGrp="1"/>
          </p:cNvSpPr>
          <p:nvPr>
            <p:ph type="title"/>
          </p:nvPr>
        </p:nvSpPr>
        <p:spPr/>
        <p:txBody>
          <a:bodyPr/>
          <a:lstStyle/>
          <a:p>
            <a:r>
              <a:rPr lang="en-US" dirty="0"/>
              <a:t>Why this course could be for you</a:t>
            </a:r>
            <a:endParaRPr lang="en-GB" dirty="0"/>
          </a:p>
        </p:txBody>
      </p:sp>
      <p:sp>
        <p:nvSpPr>
          <p:cNvPr id="3" name="Content Placeholder 2">
            <a:extLst>
              <a:ext uri="{FF2B5EF4-FFF2-40B4-BE49-F238E27FC236}">
                <a16:creationId xmlns:a16="http://schemas.microsoft.com/office/drawing/2014/main" id="{36487C48-A8A5-4E45-8521-8F46C23CBF04}"/>
              </a:ext>
            </a:extLst>
          </p:cNvPr>
          <p:cNvSpPr>
            <a:spLocks noGrp="1"/>
          </p:cNvSpPr>
          <p:nvPr>
            <p:ph idx="1"/>
          </p:nvPr>
        </p:nvSpPr>
        <p:spPr/>
        <p:txBody>
          <a:bodyPr/>
          <a:lstStyle/>
          <a:p>
            <a:pPr marL="0" indent="0">
              <a:buNone/>
            </a:pPr>
            <a:r>
              <a:rPr lang="en-US" dirty="0"/>
              <a:t>You are definitely a match for this course if you:</a:t>
            </a:r>
          </a:p>
          <a:p>
            <a:r>
              <a:rPr lang="en-US" dirty="0"/>
              <a:t>Want to pursue a career in IT</a:t>
            </a:r>
          </a:p>
          <a:p>
            <a:r>
              <a:rPr lang="en-US" dirty="0"/>
              <a:t>You want to develop a range of skills and techniques, personal skills and attributes essential for success in your working life.</a:t>
            </a:r>
          </a:p>
          <a:p>
            <a:r>
              <a:rPr lang="en-US" dirty="0"/>
              <a:t>You have a keen interest in computing and information technology.</a:t>
            </a:r>
            <a:endParaRPr lang="en-GB" dirty="0"/>
          </a:p>
        </p:txBody>
      </p:sp>
    </p:spTree>
    <p:extLst>
      <p:ext uri="{BB962C8B-B14F-4D97-AF65-F5344CB8AC3E}">
        <p14:creationId xmlns:p14="http://schemas.microsoft.com/office/powerpoint/2010/main" val="654331857"/>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A847CE-4AC1-45C8-AE76-FAF98A113DE1}"/>
              </a:ext>
            </a:extLst>
          </p:cNvPr>
          <p:cNvSpPr>
            <a:spLocks noGrp="1"/>
          </p:cNvSpPr>
          <p:nvPr>
            <p:ph type="title"/>
          </p:nvPr>
        </p:nvSpPr>
        <p:spPr/>
        <p:txBody>
          <a:bodyPr/>
          <a:lstStyle/>
          <a:p>
            <a:r>
              <a:rPr lang="en-US" dirty="0"/>
              <a:t>What qualifications will you need?</a:t>
            </a:r>
            <a:endParaRPr lang="en-GB" dirty="0"/>
          </a:p>
        </p:txBody>
      </p:sp>
      <p:sp>
        <p:nvSpPr>
          <p:cNvPr id="3" name="Content Placeholder 2">
            <a:extLst>
              <a:ext uri="{FF2B5EF4-FFF2-40B4-BE49-F238E27FC236}">
                <a16:creationId xmlns:a16="http://schemas.microsoft.com/office/drawing/2014/main" id="{B4D675E0-9D8D-4895-8D60-D3397423D8E6}"/>
              </a:ext>
            </a:extLst>
          </p:cNvPr>
          <p:cNvSpPr>
            <a:spLocks noGrp="1"/>
          </p:cNvSpPr>
          <p:nvPr>
            <p:ph idx="1"/>
          </p:nvPr>
        </p:nvSpPr>
        <p:spPr/>
        <p:txBody>
          <a:bodyPr/>
          <a:lstStyle/>
          <a:p>
            <a:pPr marL="0" indent="0">
              <a:buNone/>
            </a:pPr>
            <a:r>
              <a:rPr lang="en-US" b="1" i="1" dirty="0">
                <a:solidFill>
                  <a:srgbClr val="C00000"/>
                </a:solidFill>
              </a:rPr>
              <a:t>For this course the qualifications you will need are Minimum of 4 GCSEs grade D or above to include either </a:t>
            </a:r>
            <a:r>
              <a:rPr lang="en-US" b="1" i="1" dirty="0" err="1">
                <a:solidFill>
                  <a:srgbClr val="C00000"/>
                </a:solidFill>
              </a:rPr>
              <a:t>Maths</a:t>
            </a:r>
            <a:r>
              <a:rPr lang="en-US" b="1" i="1" dirty="0">
                <a:solidFill>
                  <a:srgbClr val="C00000"/>
                </a:solidFill>
              </a:rPr>
              <a:t>/Numeracy or English/Welsh 1st Language; or an appropriate Level 1 Diploma qualification in the relevant vocational area to include either GCSE </a:t>
            </a:r>
            <a:r>
              <a:rPr lang="en-US" b="1" i="1" dirty="0" err="1">
                <a:solidFill>
                  <a:srgbClr val="C00000"/>
                </a:solidFill>
              </a:rPr>
              <a:t>Maths</a:t>
            </a:r>
            <a:r>
              <a:rPr lang="en-US" b="1" i="1" dirty="0">
                <a:solidFill>
                  <a:srgbClr val="C00000"/>
                </a:solidFill>
              </a:rPr>
              <a:t>/Numeracy or English/Welsh 1st Language grade</a:t>
            </a:r>
            <a:endParaRPr lang="en-GB" b="1" i="1" dirty="0">
              <a:solidFill>
                <a:srgbClr val="C00000"/>
              </a:solidFill>
            </a:endParaRPr>
          </a:p>
          <a:p>
            <a:endParaRPr lang="en-GB" b="1" i="1" dirty="0"/>
          </a:p>
        </p:txBody>
      </p:sp>
    </p:spTree>
    <p:extLst>
      <p:ext uri="{BB962C8B-B14F-4D97-AF65-F5344CB8AC3E}">
        <p14:creationId xmlns:p14="http://schemas.microsoft.com/office/powerpoint/2010/main" val="1303687544"/>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E8F0F-9A0D-40B0-B6A4-F07C50A7DFF0}"/>
              </a:ext>
            </a:extLst>
          </p:cNvPr>
          <p:cNvSpPr>
            <a:spLocks noGrp="1"/>
          </p:cNvSpPr>
          <p:nvPr>
            <p:ph type="title"/>
          </p:nvPr>
        </p:nvSpPr>
        <p:spPr/>
        <p:txBody>
          <a:bodyPr/>
          <a:lstStyle/>
          <a:p>
            <a:r>
              <a:rPr lang="en-US" dirty="0"/>
              <a:t>What is included in the course?</a:t>
            </a:r>
            <a:endParaRPr lang="en-GB" dirty="0"/>
          </a:p>
        </p:txBody>
      </p:sp>
      <p:sp>
        <p:nvSpPr>
          <p:cNvPr id="3" name="Content Placeholder 2">
            <a:extLst>
              <a:ext uri="{FF2B5EF4-FFF2-40B4-BE49-F238E27FC236}">
                <a16:creationId xmlns:a16="http://schemas.microsoft.com/office/drawing/2014/main" id="{F4A46BA1-5D48-4D62-B48E-6E43B903C758}"/>
              </a:ext>
            </a:extLst>
          </p:cNvPr>
          <p:cNvSpPr>
            <a:spLocks noGrp="1"/>
          </p:cNvSpPr>
          <p:nvPr>
            <p:ph idx="1"/>
          </p:nvPr>
        </p:nvSpPr>
        <p:spPr>
          <a:xfrm>
            <a:off x="1451579" y="2015732"/>
            <a:ext cx="9603275" cy="3957229"/>
          </a:xfrm>
        </p:spPr>
        <p:txBody>
          <a:bodyPr>
            <a:normAutofit fontScale="70000" lnSpcReduction="20000"/>
          </a:bodyPr>
          <a:lstStyle/>
          <a:p>
            <a:r>
              <a:rPr lang="en-US" dirty="0"/>
              <a:t>The Online World (examined)</a:t>
            </a:r>
          </a:p>
          <a:p>
            <a:r>
              <a:rPr lang="en-US" dirty="0"/>
              <a:t>Technology Systems (examined)</a:t>
            </a:r>
          </a:p>
          <a:p>
            <a:r>
              <a:rPr lang="en-US" dirty="0"/>
              <a:t>A Digital Portfolio</a:t>
            </a:r>
          </a:p>
          <a:p>
            <a:r>
              <a:rPr lang="en-US" dirty="0"/>
              <a:t>Creating Digital Animation</a:t>
            </a:r>
          </a:p>
          <a:p>
            <a:r>
              <a:rPr lang="en-US" dirty="0"/>
              <a:t>Creating Digital Graphics</a:t>
            </a:r>
          </a:p>
          <a:p>
            <a:r>
              <a:rPr lang="en-US" dirty="0"/>
              <a:t>Database Development</a:t>
            </a:r>
          </a:p>
          <a:p>
            <a:r>
              <a:rPr lang="en-US" dirty="0"/>
              <a:t>Computer Networks</a:t>
            </a:r>
          </a:p>
          <a:p>
            <a:r>
              <a:rPr lang="en-US" dirty="0"/>
              <a:t>Software Development</a:t>
            </a:r>
          </a:p>
          <a:p>
            <a:r>
              <a:rPr lang="en-US" dirty="0"/>
              <a:t>Multimedia Product Development</a:t>
            </a:r>
          </a:p>
          <a:p>
            <a:r>
              <a:rPr lang="en-US" dirty="0"/>
              <a:t>Computational Thinking</a:t>
            </a:r>
          </a:p>
          <a:p>
            <a:r>
              <a:rPr lang="en-US" dirty="0"/>
              <a:t>Computing in the Workplace</a:t>
            </a:r>
            <a:endParaRPr lang="en-GB" dirty="0"/>
          </a:p>
        </p:txBody>
      </p:sp>
    </p:spTree>
    <p:extLst>
      <p:ext uri="{BB962C8B-B14F-4D97-AF65-F5344CB8AC3E}">
        <p14:creationId xmlns:p14="http://schemas.microsoft.com/office/powerpoint/2010/main" val="3240796444"/>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07314-B1D9-4C29-9DB1-590F6CEAFDDC}"/>
              </a:ext>
            </a:extLst>
          </p:cNvPr>
          <p:cNvSpPr>
            <a:spLocks noGrp="1"/>
          </p:cNvSpPr>
          <p:nvPr>
            <p:ph type="title"/>
          </p:nvPr>
        </p:nvSpPr>
        <p:spPr/>
        <p:txBody>
          <a:bodyPr/>
          <a:lstStyle/>
          <a:p>
            <a:r>
              <a:rPr lang="en-US" dirty="0"/>
              <a:t>Unit one – the online world (examined)</a:t>
            </a:r>
            <a:endParaRPr lang="en-GB" dirty="0"/>
          </a:p>
        </p:txBody>
      </p:sp>
      <p:sp>
        <p:nvSpPr>
          <p:cNvPr id="3" name="Content Placeholder 2">
            <a:extLst>
              <a:ext uri="{FF2B5EF4-FFF2-40B4-BE49-F238E27FC236}">
                <a16:creationId xmlns:a16="http://schemas.microsoft.com/office/drawing/2014/main" id="{EEF4BE17-ED4E-48E5-94DB-A46171DD4DDB}"/>
              </a:ext>
            </a:extLst>
          </p:cNvPr>
          <p:cNvSpPr>
            <a:spLocks noGrp="1"/>
          </p:cNvSpPr>
          <p:nvPr>
            <p:ph idx="1"/>
          </p:nvPr>
        </p:nvSpPr>
        <p:spPr/>
        <p:txBody>
          <a:bodyPr>
            <a:normAutofit fontScale="85000" lnSpcReduction="20000"/>
          </a:bodyPr>
          <a:lstStyle/>
          <a:p>
            <a:pPr marL="0" indent="0">
              <a:buNone/>
            </a:pPr>
            <a:r>
              <a:rPr lang="en-US" dirty="0">
                <a:solidFill>
                  <a:srgbClr val="C00000"/>
                </a:solidFill>
              </a:rPr>
              <a:t>This unit will help you understand the main technologies and processes behind the internet and investigate how they come together to let you view websites and send information across the world.</a:t>
            </a:r>
          </a:p>
          <a:p>
            <a:pPr marL="0" indent="0">
              <a:buNone/>
            </a:pPr>
            <a:r>
              <a:rPr lang="en-US" dirty="0">
                <a:solidFill>
                  <a:srgbClr val="C00000"/>
                </a:solidFill>
              </a:rPr>
              <a:t>In this unit you will:</a:t>
            </a:r>
          </a:p>
          <a:p>
            <a:pPr marL="0" indent="0">
              <a:buNone/>
            </a:pPr>
            <a:endParaRPr lang="en-US" dirty="0">
              <a:solidFill>
                <a:srgbClr val="C00000"/>
              </a:solidFill>
            </a:endParaRPr>
          </a:p>
          <a:p>
            <a:r>
              <a:rPr lang="en-US" dirty="0">
                <a:solidFill>
                  <a:srgbClr val="C00000"/>
                </a:solidFill>
              </a:rPr>
              <a:t>A - investigate online services and online communication</a:t>
            </a:r>
          </a:p>
          <a:p>
            <a:endParaRPr lang="en-US" dirty="0">
              <a:solidFill>
                <a:srgbClr val="C00000"/>
              </a:solidFill>
            </a:endParaRPr>
          </a:p>
          <a:p>
            <a:r>
              <a:rPr lang="en-US" dirty="0">
                <a:solidFill>
                  <a:srgbClr val="C00000"/>
                </a:solidFill>
              </a:rPr>
              <a:t>B - investigate components of the internet and how digital devices exchange and store information</a:t>
            </a:r>
          </a:p>
          <a:p>
            <a:endParaRPr lang="en-US" dirty="0">
              <a:solidFill>
                <a:srgbClr val="C00000"/>
              </a:solidFill>
            </a:endParaRPr>
          </a:p>
          <a:p>
            <a:r>
              <a:rPr lang="en-US" dirty="0">
                <a:solidFill>
                  <a:srgbClr val="C00000"/>
                </a:solidFill>
              </a:rPr>
              <a:t>C - investigate issues with operating online</a:t>
            </a:r>
            <a:endParaRPr lang="en-GB" dirty="0">
              <a:solidFill>
                <a:srgbClr val="C00000"/>
              </a:solidFill>
            </a:endParaRPr>
          </a:p>
          <a:p>
            <a:endParaRPr lang="en-GB" dirty="0"/>
          </a:p>
        </p:txBody>
      </p:sp>
    </p:spTree>
    <p:extLst>
      <p:ext uri="{BB962C8B-B14F-4D97-AF65-F5344CB8AC3E}">
        <p14:creationId xmlns:p14="http://schemas.microsoft.com/office/powerpoint/2010/main" val="2052072634"/>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0130D-3A1F-4592-9B0F-5687376690D1}"/>
              </a:ext>
            </a:extLst>
          </p:cNvPr>
          <p:cNvSpPr>
            <a:spLocks noGrp="1"/>
          </p:cNvSpPr>
          <p:nvPr>
            <p:ph type="title"/>
          </p:nvPr>
        </p:nvSpPr>
        <p:spPr/>
        <p:txBody>
          <a:bodyPr/>
          <a:lstStyle/>
          <a:p>
            <a:r>
              <a:rPr lang="en-US" dirty="0"/>
              <a:t>Unit two – Technology systems (examined)</a:t>
            </a:r>
            <a:endParaRPr lang="en-GB" dirty="0"/>
          </a:p>
        </p:txBody>
      </p:sp>
      <p:sp>
        <p:nvSpPr>
          <p:cNvPr id="3" name="Content Placeholder 2">
            <a:extLst>
              <a:ext uri="{FF2B5EF4-FFF2-40B4-BE49-F238E27FC236}">
                <a16:creationId xmlns:a16="http://schemas.microsoft.com/office/drawing/2014/main" id="{E14AF89F-5A98-4D51-82B9-062D64598E04}"/>
              </a:ext>
            </a:extLst>
          </p:cNvPr>
          <p:cNvSpPr>
            <a:spLocks noGrp="1"/>
          </p:cNvSpPr>
          <p:nvPr>
            <p:ph idx="1"/>
          </p:nvPr>
        </p:nvSpPr>
        <p:spPr/>
        <p:txBody>
          <a:bodyPr>
            <a:normAutofit fontScale="85000" lnSpcReduction="20000"/>
          </a:bodyPr>
          <a:lstStyle/>
          <a:p>
            <a:pPr marL="0" indent="0">
              <a:buNone/>
            </a:pPr>
            <a:r>
              <a:rPr lang="en-US" dirty="0">
                <a:solidFill>
                  <a:schemeClr val="bg1"/>
                </a:solidFill>
              </a:rPr>
              <a:t>Technology systems are involved in many of the objects we use every day, from a laptop computer and routers relaying internet traffic, to logging in to a social networking site. This unit provides a first look at how the main building blocks of technology systems work.</a:t>
            </a:r>
          </a:p>
          <a:p>
            <a:pPr marL="0" indent="0">
              <a:buNone/>
            </a:pPr>
            <a:r>
              <a:rPr lang="en-US" dirty="0">
                <a:solidFill>
                  <a:schemeClr val="bg1"/>
                </a:solidFill>
              </a:rPr>
              <a:t>Learning Aims</a:t>
            </a:r>
          </a:p>
          <a:p>
            <a:r>
              <a:rPr lang="en-US" dirty="0">
                <a:solidFill>
                  <a:schemeClr val="bg1"/>
                </a:solidFill>
              </a:rPr>
              <a:t>A - understand how the components of technology systems work together</a:t>
            </a:r>
          </a:p>
          <a:p>
            <a:endParaRPr lang="en-US" dirty="0">
              <a:solidFill>
                <a:schemeClr val="bg1"/>
              </a:solidFill>
            </a:endParaRPr>
          </a:p>
          <a:p>
            <a:r>
              <a:rPr lang="en-US" dirty="0">
                <a:solidFill>
                  <a:schemeClr val="bg1"/>
                </a:solidFill>
              </a:rPr>
              <a:t>B - understand how data flows between internal components of a computer and is processed to provide information</a:t>
            </a:r>
          </a:p>
          <a:p>
            <a:endParaRPr lang="en-US" dirty="0">
              <a:solidFill>
                <a:schemeClr val="bg1"/>
              </a:solidFill>
            </a:endParaRPr>
          </a:p>
          <a:p>
            <a:r>
              <a:rPr lang="en-US" dirty="0">
                <a:solidFill>
                  <a:schemeClr val="bg1"/>
                </a:solidFill>
              </a:rPr>
              <a:t>C - understand different types of software.</a:t>
            </a:r>
            <a:endParaRPr lang="en-GB" dirty="0">
              <a:solidFill>
                <a:schemeClr val="bg1"/>
              </a:solidFill>
            </a:endParaRPr>
          </a:p>
          <a:p>
            <a:pPr marL="0" indent="0">
              <a:buNone/>
            </a:pPr>
            <a:endParaRPr lang="en-GB" dirty="0"/>
          </a:p>
        </p:txBody>
      </p:sp>
    </p:spTree>
    <p:extLst>
      <p:ext uri="{BB962C8B-B14F-4D97-AF65-F5344CB8AC3E}">
        <p14:creationId xmlns:p14="http://schemas.microsoft.com/office/powerpoint/2010/main" val="1400311220"/>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09D41-8725-436E-90A2-0563C12AEB92}"/>
              </a:ext>
            </a:extLst>
          </p:cNvPr>
          <p:cNvSpPr>
            <a:spLocks noGrp="1"/>
          </p:cNvSpPr>
          <p:nvPr>
            <p:ph type="title"/>
          </p:nvPr>
        </p:nvSpPr>
        <p:spPr/>
        <p:txBody>
          <a:bodyPr/>
          <a:lstStyle/>
          <a:p>
            <a:r>
              <a:rPr lang="en-US" dirty="0"/>
              <a:t>Unit three – A digital portfolio</a:t>
            </a:r>
            <a:endParaRPr lang="en-GB" dirty="0"/>
          </a:p>
        </p:txBody>
      </p:sp>
      <p:sp>
        <p:nvSpPr>
          <p:cNvPr id="3" name="Content Placeholder 2">
            <a:extLst>
              <a:ext uri="{FF2B5EF4-FFF2-40B4-BE49-F238E27FC236}">
                <a16:creationId xmlns:a16="http://schemas.microsoft.com/office/drawing/2014/main" id="{52942463-941B-4AFD-B6E6-26D4381CD323}"/>
              </a:ext>
            </a:extLst>
          </p:cNvPr>
          <p:cNvSpPr>
            <a:spLocks noGrp="1"/>
          </p:cNvSpPr>
          <p:nvPr>
            <p:ph idx="1"/>
          </p:nvPr>
        </p:nvSpPr>
        <p:spPr/>
        <p:txBody>
          <a:bodyPr>
            <a:normAutofit fontScale="92500" lnSpcReduction="10000"/>
          </a:bodyPr>
          <a:lstStyle/>
          <a:p>
            <a:pPr marL="0" indent="0">
              <a:buNone/>
            </a:pPr>
            <a:r>
              <a:rPr lang="en-US" dirty="0">
                <a:solidFill>
                  <a:srgbClr val="C00000"/>
                </a:solidFill>
              </a:rPr>
              <a:t>This unit is your chance to show off! A digital portfolio is an exciting onscreen way to showcase your achievements to potential employers or when applying for a course.</a:t>
            </a:r>
          </a:p>
          <a:p>
            <a:r>
              <a:rPr lang="en-US" dirty="0">
                <a:solidFill>
                  <a:srgbClr val="C00000"/>
                </a:solidFill>
              </a:rPr>
              <a:t>It is all about:</a:t>
            </a:r>
          </a:p>
          <a:p>
            <a:endParaRPr lang="en-US" dirty="0">
              <a:solidFill>
                <a:srgbClr val="C00000"/>
              </a:solidFill>
            </a:endParaRPr>
          </a:p>
          <a:p>
            <a:r>
              <a:rPr lang="en-US" dirty="0">
                <a:solidFill>
                  <a:srgbClr val="C00000"/>
                </a:solidFill>
              </a:rPr>
              <a:t>The projects you have created and developed</a:t>
            </a:r>
          </a:p>
          <a:p>
            <a:r>
              <a:rPr lang="en-US" dirty="0">
                <a:solidFill>
                  <a:srgbClr val="C00000"/>
                </a:solidFill>
              </a:rPr>
              <a:t>Your use of communication and presentation skills</a:t>
            </a:r>
          </a:p>
          <a:p>
            <a:r>
              <a:rPr lang="en-US" dirty="0">
                <a:solidFill>
                  <a:srgbClr val="C00000"/>
                </a:solidFill>
              </a:rPr>
              <a:t>Your capabilities and potential.</a:t>
            </a:r>
          </a:p>
          <a:p>
            <a:r>
              <a:rPr lang="en-US" dirty="0">
                <a:solidFill>
                  <a:srgbClr val="C00000"/>
                </a:solidFill>
              </a:rPr>
              <a:t>And putting all previous work all together on a website .</a:t>
            </a:r>
            <a:endParaRPr lang="en-GB" dirty="0">
              <a:solidFill>
                <a:srgbClr val="C00000"/>
              </a:solidFill>
            </a:endParaRPr>
          </a:p>
          <a:p>
            <a:endParaRPr lang="en-GB" dirty="0"/>
          </a:p>
        </p:txBody>
      </p:sp>
    </p:spTree>
    <p:extLst>
      <p:ext uri="{BB962C8B-B14F-4D97-AF65-F5344CB8AC3E}">
        <p14:creationId xmlns:p14="http://schemas.microsoft.com/office/powerpoint/2010/main" val="3966980287"/>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A70C8E-ACF8-41D5-A07C-F034C3322789}"/>
              </a:ext>
            </a:extLst>
          </p:cNvPr>
          <p:cNvSpPr>
            <a:spLocks noGrp="1"/>
          </p:cNvSpPr>
          <p:nvPr>
            <p:ph type="title"/>
          </p:nvPr>
        </p:nvSpPr>
        <p:spPr/>
        <p:txBody>
          <a:bodyPr/>
          <a:lstStyle/>
          <a:p>
            <a:r>
              <a:rPr lang="en-US" dirty="0"/>
              <a:t>Unit ten – database development</a:t>
            </a:r>
            <a:endParaRPr lang="en-GB" dirty="0"/>
          </a:p>
        </p:txBody>
      </p:sp>
      <p:sp>
        <p:nvSpPr>
          <p:cNvPr id="3" name="Content Placeholder 2">
            <a:extLst>
              <a:ext uri="{FF2B5EF4-FFF2-40B4-BE49-F238E27FC236}">
                <a16:creationId xmlns:a16="http://schemas.microsoft.com/office/drawing/2014/main" id="{D175626A-081D-48FB-8716-E4C016D7D0E9}"/>
              </a:ext>
            </a:extLst>
          </p:cNvPr>
          <p:cNvSpPr>
            <a:spLocks noGrp="1"/>
          </p:cNvSpPr>
          <p:nvPr>
            <p:ph idx="1"/>
          </p:nvPr>
        </p:nvSpPr>
        <p:spPr/>
        <p:txBody>
          <a:bodyPr>
            <a:normAutofit fontScale="77500" lnSpcReduction="20000"/>
          </a:bodyPr>
          <a:lstStyle/>
          <a:p>
            <a:pPr marL="0" indent="0">
              <a:buNone/>
            </a:pPr>
            <a:r>
              <a:rPr lang="en-US" dirty="0">
                <a:solidFill>
                  <a:schemeClr val="bg1"/>
                </a:solidFill>
              </a:rPr>
              <a:t>Do you use the internet to search for information, such as music tracks, items in an online shop or train times? If so, the chances are that you are using a database without realizing it! Many IT systems involve the use of databases and it is important to understand how they work.</a:t>
            </a:r>
          </a:p>
          <a:p>
            <a:pPr marL="0" indent="0">
              <a:buNone/>
            </a:pPr>
            <a:r>
              <a:rPr lang="en-US" dirty="0">
                <a:solidFill>
                  <a:schemeClr val="bg1"/>
                </a:solidFill>
              </a:rPr>
              <a:t>Learning Aims</a:t>
            </a:r>
          </a:p>
          <a:p>
            <a:pPr marL="0" indent="0">
              <a:buNone/>
            </a:pPr>
            <a:r>
              <a:rPr lang="en-US" dirty="0">
                <a:solidFill>
                  <a:schemeClr val="bg1"/>
                </a:solidFill>
              </a:rPr>
              <a:t>In this unit you will:</a:t>
            </a:r>
          </a:p>
          <a:p>
            <a:endParaRPr lang="en-US" dirty="0">
              <a:solidFill>
                <a:schemeClr val="bg1"/>
              </a:solidFill>
            </a:endParaRPr>
          </a:p>
          <a:p>
            <a:r>
              <a:rPr lang="en-US" dirty="0">
                <a:solidFill>
                  <a:schemeClr val="bg1"/>
                </a:solidFill>
              </a:rPr>
              <a:t>A - Understand the uses of and tools/techniques used in databases</a:t>
            </a:r>
          </a:p>
          <a:p>
            <a:r>
              <a:rPr lang="en-US" dirty="0">
                <a:solidFill>
                  <a:schemeClr val="bg1"/>
                </a:solidFill>
              </a:rPr>
              <a:t>B - Design a relational database</a:t>
            </a:r>
          </a:p>
          <a:p>
            <a:r>
              <a:rPr lang="en-US" dirty="0">
                <a:solidFill>
                  <a:schemeClr val="bg1"/>
                </a:solidFill>
              </a:rPr>
              <a:t>C - Develop and test a relational database</a:t>
            </a:r>
          </a:p>
          <a:p>
            <a:r>
              <a:rPr lang="en-US" dirty="0">
                <a:solidFill>
                  <a:schemeClr val="bg1"/>
                </a:solidFill>
              </a:rPr>
              <a:t>D - Review the finished relational database</a:t>
            </a:r>
            <a:endParaRPr lang="en-GB" dirty="0"/>
          </a:p>
        </p:txBody>
      </p:sp>
    </p:spTree>
    <p:extLst>
      <p:ext uri="{BB962C8B-B14F-4D97-AF65-F5344CB8AC3E}">
        <p14:creationId xmlns:p14="http://schemas.microsoft.com/office/powerpoint/2010/main" val="3734535849"/>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BAF52-BFC7-466C-9142-4AED4E0913E2}"/>
              </a:ext>
            </a:extLst>
          </p:cNvPr>
          <p:cNvSpPr>
            <a:spLocks noGrp="1"/>
          </p:cNvSpPr>
          <p:nvPr>
            <p:ph type="title"/>
          </p:nvPr>
        </p:nvSpPr>
        <p:spPr/>
        <p:txBody>
          <a:bodyPr/>
          <a:lstStyle/>
          <a:p>
            <a:r>
              <a:rPr lang="en-US" dirty="0"/>
              <a:t>Unit twelve – Software development</a:t>
            </a:r>
            <a:endParaRPr lang="en-GB" dirty="0"/>
          </a:p>
        </p:txBody>
      </p:sp>
      <p:sp>
        <p:nvSpPr>
          <p:cNvPr id="3" name="Content Placeholder 2">
            <a:extLst>
              <a:ext uri="{FF2B5EF4-FFF2-40B4-BE49-F238E27FC236}">
                <a16:creationId xmlns:a16="http://schemas.microsoft.com/office/drawing/2014/main" id="{4BA99A8A-A69E-4285-9FBC-FAC347578D41}"/>
              </a:ext>
            </a:extLst>
          </p:cNvPr>
          <p:cNvSpPr>
            <a:spLocks noGrp="1"/>
          </p:cNvSpPr>
          <p:nvPr>
            <p:ph idx="1"/>
          </p:nvPr>
        </p:nvSpPr>
        <p:spPr/>
        <p:txBody>
          <a:bodyPr>
            <a:normAutofit fontScale="85000" lnSpcReduction="20000"/>
          </a:bodyPr>
          <a:lstStyle/>
          <a:p>
            <a:r>
              <a:rPr lang="en-US" dirty="0">
                <a:solidFill>
                  <a:srgbClr val="C00000"/>
                </a:solidFill>
              </a:rPr>
              <a:t>We live in an age of computer devices, which </a:t>
            </a:r>
            <a:r>
              <a:rPr lang="en-US" dirty="0" err="1">
                <a:solidFill>
                  <a:srgbClr val="C00000"/>
                </a:solidFill>
              </a:rPr>
              <a:t>organisations</a:t>
            </a:r>
            <a:r>
              <a:rPr lang="en-US" dirty="0">
                <a:solidFill>
                  <a:srgbClr val="C00000"/>
                </a:solidFill>
              </a:rPr>
              <a:t> and individuals have come to rely on. Computer devices are everywhere and advances in these take place daily. It is essential for </a:t>
            </a:r>
            <a:r>
              <a:rPr lang="en-US" dirty="0" err="1">
                <a:solidFill>
                  <a:srgbClr val="C00000"/>
                </a:solidFill>
              </a:rPr>
              <a:t>organisations</a:t>
            </a:r>
            <a:r>
              <a:rPr lang="en-US" dirty="0">
                <a:solidFill>
                  <a:srgbClr val="C00000"/>
                </a:solidFill>
              </a:rPr>
              <a:t> and IT professionals to develop and maintain software programs that bring to life the technology we all rely on.</a:t>
            </a:r>
          </a:p>
          <a:p>
            <a:pPr marL="0" indent="0">
              <a:buNone/>
            </a:pPr>
            <a:r>
              <a:rPr lang="en-US" dirty="0">
                <a:solidFill>
                  <a:srgbClr val="C00000"/>
                </a:solidFill>
              </a:rPr>
              <a:t>In this unit you will:</a:t>
            </a:r>
          </a:p>
          <a:p>
            <a:endParaRPr lang="en-US" dirty="0">
              <a:solidFill>
                <a:srgbClr val="C00000"/>
              </a:solidFill>
            </a:endParaRPr>
          </a:p>
          <a:p>
            <a:r>
              <a:rPr lang="en-US" dirty="0">
                <a:solidFill>
                  <a:srgbClr val="C00000"/>
                </a:solidFill>
              </a:rPr>
              <a:t>A - understand the characteristics and uses of a software program</a:t>
            </a:r>
          </a:p>
          <a:p>
            <a:r>
              <a:rPr lang="en-US" dirty="0">
                <a:solidFill>
                  <a:srgbClr val="C00000"/>
                </a:solidFill>
              </a:rPr>
              <a:t>B - design a software program</a:t>
            </a:r>
          </a:p>
          <a:p>
            <a:r>
              <a:rPr lang="en-US" dirty="0">
                <a:solidFill>
                  <a:srgbClr val="C00000"/>
                </a:solidFill>
              </a:rPr>
              <a:t>C - develop and test a software program</a:t>
            </a:r>
          </a:p>
          <a:p>
            <a:r>
              <a:rPr lang="en-US" dirty="0">
                <a:solidFill>
                  <a:srgbClr val="C00000"/>
                </a:solidFill>
              </a:rPr>
              <a:t>D - review the finished software program</a:t>
            </a:r>
          </a:p>
        </p:txBody>
      </p:sp>
    </p:spTree>
    <p:extLst>
      <p:ext uri="{BB962C8B-B14F-4D97-AF65-F5344CB8AC3E}">
        <p14:creationId xmlns:p14="http://schemas.microsoft.com/office/powerpoint/2010/main" val="2967549174"/>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17B44-9542-47ED-97B1-A04EB57A83D7}"/>
              </a:ext>
            </a:extLst>
          </p:cNvPr>
          <p:cNvSpPr>
            <a:spLocks noGrp="1"/>
          </p:cNvSpPr>
          <p:nvPr>
            <p:ph type="title"/>
          </p:nvPr>
        </p:nvSpPr>
        <p:spPr/>
        <p:txBody>
          <a:bodyPr/>
          <a:lstStyle/>
          <a:p>
            <a:r>
              <a:rPr lang="en-US" dirty="0"/>
              <a:t>Unit thirteen – website development</a:t>
            </a:r>
            <a:endParaRPr lang="en-GB" dirty="0"/>
          </a:p>
        </p:txBody>
      </p:sp>
      <p:sp>
        <p:nvSpPr>
          <p:cNvPr id="3" name="Content Placeholder 2">
            <a:extLst>
              <a:ext uri="{FF2B5EF4-FFF2-40B4-BE49-F238E27FC236}">
                <a16:creationId xmlns:a16="http://schemas.microsoft.com/office/drawing/2014/main" id="{90F99BB7-8245-47AE-B5B8-60AABA8AAF8D}"/>
              </a:ext>
            </a:extLst>
          </p:cNvPr>
          <p:cNvSpPr>
            <a:spLocks noGrp="1"/>
          </p:cNvSpPr>
          <p:nvPr>
            <p:ph idx="1"/>
          </p:nvPr>
        </p:nvSpPr>
        <p:spPr/>
        <p:txBody>
          <a:bodyPr>
            <a:normAutofit fontScale="85000" lnSpcReduction="10000"/>
          </a:bodyPr>
          <a:lstStyle/>
          <a:p>
            <a:r>
              <a:rPr lang="en-US" dirty="0">
                <a:solidFill>
                  <a:schemeClr val="bg1"/>
                </a:solidFill>
              </a:rPr>
              <a:t>In this unit, you will investigate the features and uses of websites by exploring what they are and how their integrated components and applications interact with each other.</a:t>
            </a:r>
          </a:p>
          <a:p>
            <a:r>
              <a:rPr lang="en-US" dirty="0">
                <a:solidFill>
                  <a:schemeClr val="bg1"/>
                </a:solidFill>
              </a:rPr>
              <a:t>You will also learn how to design, develop and test a website for a brief. Once this is completed you will review your website, having obtained feedback from others.</a:t>
            </a:r>
          </a:p>
          <a:p>
            <a:pPr marL="0" indent="0">
              <a:buNone/>
            </a:pPr>
            <a:r>
              <a:rPr lang="en-US" dirty="0">
                <a:solidFill>
                  <a:schemeClr val="bg1"/>
                </a:solidFill>
              </a:rPr>
              <a:t>Learning Aims</a:t>
            </a:r>
          </a:p>
          <a:p>
            <a:r>
              <a:rPr lang="en-US" dirty="0">
                <a:solidFill>
                  <a:schemeClr val="bg1"/>
                </a:solidFill>
              </a:rPr>
              <a:t>A - Understand the uses and features of websites</a:t>
            </a:r>
          </a:p>
          <a:p>
            <a:r>
              <a:rPr lang="en-US" dirty="0">
                <a:solidFill>
                  <a:schemeClr val="bg1"/>
                </a:solidFill>
              </a:rPr>
              <a:t>B - Design a website</a:t>
            </a:r>
          </a:p>
          <a:p>
            <a:r>
              <a:rPr lang="en-US" dirty="0">
                <a:solidFill>
                  <a:schemeClr val="bg1"/>
                </a:solidFill>
              </a:rPr>
              <a:t>C - Develop and test a website</a:t>
            </a:r>
          </a:p>
          <a:p>
            <a:r>
              <a:rPr lang="en-US" dirty="0">
                <a:solidFill>
                  <a:schemeClr val="bg1"/>
                </a:solidFill>
              </a:rPr>
              <a:t>D - Review the finished website</a:t>
            </a:r>
            <a:endParaRPr lang="en-GB" dirty="0">
              <a:solidFill>
                <a:schemeClr val="bg1"/>
              </a:solidFill>
            </a:endParaRPr>
          </a:p>
        </p:txBody>
      </p:sp>
    </p:spTree>
    <p:extLst>
      <p:ext uri="{BB962C8B-B14F-4D97-AF65-F5344CB8AC3E}">
        <p14:creationId xmlns:p14="http://schemas.microsoft.com/office/powerpoint/2010/main" val="3046088050"/>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A6C88F-05BA-4F37-96A1-A396D559D0BF}"/>
              </a:ext>
            </a:extLst>
          </p:cNvPr>
          <p:cNvSpPr>
            <a:spLocks noGrp="1"/>
          </p:cNvSpPr>
          <p:nvPr>
            <p:ph type="title"/>
          </p:nvPr>
        </p:nvSpPr>
        <p:spPr/>
        <p:txBody>
          <a:bodyPr/>
          <a:lstStyle/>
          <a:p>
            <a:r>
              <a:rPr lang="en-US" dirty="0"/>
              <a:t>Unit seventeen – multimedia product development</a:t>
            </a:r>
            <a:endParaRPr lang="en-GB" dirty="0"/>
          </a:p>
        </p:txBody>
      </p:sp>
      <p:sp>
        <p:nvSpPr>
          <p:cNvPr id="3" name="Content Placeholder 2">
            <a:extLst>
              <a:ext uri="{FF2B5EF4-FFF2-40B4-BE49-F238E27FC236}">
                <a16:creationId xmlns:a16="http://schemas.microsoft.com/office/drawing/2014/main" id="{57FA389E-A917-40D4-BBBA-FDDEA26439B1}"/>
              </a:ext>
            </a:extLst>
          </p:cNvPr>
          <p:cNvSpPr>
            <a:spLocks noGrp="1"/>
          </p:cNvSpPr>
          <p:nvPr>
            <p:ph idx="1"/>
          </p:nvPr>
        </p:nvSpPr>
        <p:spPr/>
        <p:txBody>
          <a:bodyPr>
            <a:normAutofit fontScale="70000" lnSpcReduction="20000"/>
          </a:bodyPr>
          <a:lstStyle/>
          <a:p>
            <a:r>
              <a:rPr lang="en-US" dirty="0">
                <a:solidFill>
                  <a:srgbClr val="C00000"/>
                </a:solidFill>
              </a:rPr>
              <a:t>Multimedia plays an ever expanding and increasingly important role in daily life. It allows you to access information in new and inspiring ways, using combinations of assets such as video, sound effects, music, animation, images and text to create interactive products that are stimulating and easy to use. Relevant job roles include multimedia specialists who use software to manipulate assets into products and software developers/programmers who add functionality by writing computer code. </a:t>
            </a:r>
          </a:p>
          <a:p>
            <a:pPr marL="0" indent="0">
              <a:buNone/>
            </a:pPr>
            <a:r>
              <a:rPr lang="en-US" dirty="0">
                <a:solidFill>
                  <a:srgbClr val="C00000"/>
                </a:solidFill>
              </a:rPr>
              <a:t>In this unit you will:</a:t>
            </a:r>
          </a:p>
          <a:p>
            <a:pPr marL="0" indent="0">
              <a:buNone/>
            </a:pPr>
            <a:endParaRPr lang="en-US" dirty="0">
              <a:solidFill>
                <a:srgbClr val="C00000"/>
              </a:solidFill>
            </a:endParaRPr>
          </a:p>
          <a:p>
            <a:r>
              <a:rPr lang="en-US" dirty="0">
                <a:solidFill>
                  <a:srgbClr val="C00000"/>
                </a:solidFill>
              </a:rPr>
              <a:t>A - Understand the uses and features of multimedia products</a:t>
            </a:r>
          </a:p>
          <a:p>
            <a:r>
              <a:rPr lang="en-US" dirty="0">
                <a:solidFill>
                  <a:srgbClr val="C00000"/>
                </a:solidFill>
              </a:rPr>
              <a:t>B - Design multimedia products</a:t>
            </a:r>
          </a:p>
          <a:p>
            <a:r>
              <a:rPr lang="en-US" dirty="0">
                <a:solidFill>
                  <a:srgbClr val="C00000"/>
                </a:solidFill>
              </a:rPr>
              <a:t>C - Develop and test multimedia products</a:t>
            </a:r>
          </a:p>
          <a:p>
            <a:r>
              <a:rPr lang="en-US" dirty="0">
                <a:solidFill>
                  <a:srgbClr val="C00000"/>
                </a:solidFill>
              </a:rPr>
              <a:t>D - Review the finished multimedia products</a:t>
            </a:r>
            <a:endParaRPr lang="en-GB" dirty="0">
              <a:solidFill>
                <a:srgbClr val="C00000"/>
              </a:solidFill>
            </a:endParaRPr>
          </a:p>
        </p:txBody>
      </p:sp>
    </p:spTree>
    <p:extLst>
      <p:ext uri="{BB962C8B-B14F-4D97-AF65-F5344CB8AC3E}">
        <p14:creationId xmlns:p14="http://schemas.microsoft.com/office/powerpoint/2010/main" val="2866285082"/>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DF1D3-648E-4DF0-AB86-E3F3ED6A7D5C}"/>
              </a:ext>
            </a:extLst>
          </p:cNvPr>
          <p:cNvSpPr>
            <a:spLocks noGrp="1"/>
          </p:cNvSpPr>
          <p:nvPr>
            <p:ph type="title"/>
          </p:nvPr>
        </p:nvSpPr>
        <p:spPr/>
        <p:txBody>
          <a:bodyPr/>
          <a:lstStyle/>
          <a:p>
            <a:r>
              <a:rPr lang="en-US" dirty="0"/>
              <a:t>Unit nineteen – computing in the workplace</a:t>
            </a:r>
            <a:endParaRPr lang="en-GB" dirty="0"/>
          </a:p>
        </p:txBody>
      </p:sp>
      <p:sp>
        <p:nvSpPr>
          <p:cNvPr id="3" name="Content Placeholder 2">
            <a:extLst>
              <a:ext uri="{FF2B5EF4-FFF2-40B4-BE49-F238E27FC236}">
                <a16:creationId xmlns:a16="http://schemas.microsoft.com/office/drawing/2014/main" id="{F623A6BB-BF6B-4F44-9E41-AAE82813C0AC}"/>
              </a:ext>
            </a:extLst>
          </p:cNvPr>
          <p:cNvSpPr>
            <a:spLocks noGrp="1"/>
          </p:cNvSpPr>
          <p:nvPr>
            <p:ph idx="1"/>
          </p:nvPr>
        </p:nvSpPr>
        <p:spPr/>
        <p:txBody>
          <a:bodyPr>
            <a:normAutofit fontScale="70000" lnSpcReduction="20000"/>
          </a:bodyPr>
          <a:lstStyle/>
          <a:p>
            <a:r>
              <a:rPr lang="en-US" dirty="0">
                <a:solidFill>
                  <a:schemeClr val="bg1"/>
                </a:solidFill>
              </a:rPr>
              <a:t>In this unit you will understand the personal characteristics, such as communication and self-management skills, which are valued by employers and you will demonstrate some of these characteristics. You will prepare an application for one job in the IT sector and creative computing industries (e.g. computer games developer or IT technician) demonstrating your technical and employability skills and using your digital portfolio to showcase your achievements. This will also help you decide which skills you should develop further and which career to pursue. </a:t>
            </a:r>
          </a:p>
          <a:p>
            <a:pPr marL="0" indent="0">
              <a:buNone/>
            </a:pPr>
            <a:r>
              <a:rPr lang="en-US" dirty="0">
                <a:solidFill>
                  <a:schemeClr val="bg1"/>
                </a:solidFill>
              </a:rPr>
              <a:t>In this unit you will:</a:t>
            </a:r>
          </a:p>
          <a:p>
            <a:r>
              <a:rPr lang="en-US" dirty="0">
                <a:solidFill>
                  <a:schemeClr val="bg1"/>
                </a:solidFill>
              </a:rPr>
              <a:t>A - understand and demonstrate the personal characteristics valued by employers in the workplace</a:t>
            </a:r>
          </a:p>
          <a:p>
            <a:r>
              <a:rPr lang="en-US" dirty="0">
                <a:solidFill>
                  <a:schemeClr val="bg1"/>
                </a:solidFill>
              </a:rPr>
              <a:t>B - prepare an application for an IT/computing job role</a:t>
            </a:r>
          </a:p>
          <a:p>
            <a:r>
              <a:rPr lang="en-US" dirty="0">
                <a:solidFill>
                  <a:schemeClr val="bg1"/>
                </a:solidFill>
              </a:rPr>
              <a:t>C - understand how social media and communication technologies are used in the workplace</a:t>
            </a:r>
          </a:p>
          <a:p>
            <a:r>
              <a:rPr lang="en-US" dirty="0">
                <a:solidFill>
                  <a:schemeClr val="bg1"/>
                </a:solidFill>
              </a:rPr>
              <a:t>D - demonstrate how social media and communication technologies can be used to improve the delivery of a project</a:t>
            </a:r>
            <a:endParaRPr lang="en-GB" dirty="0">
              <a:solidFill>
                <a:schemeClr val="bg1"/>
              </a:solidFill>
            </a:endParaRPr>
          </a:p>
          <a:p>
            <a:pPr marL="0" indent="0">
              <a:buNone/>
            </a:pPr>
            <a:endParaRPr lang="en-GB" dirty="0"/>
          </a:p>
        </p:txBody>
      </p:sp>
    </p:spTree>
    <p:extLst>
      <p:ext uri="{BB962C8B-B14F-4D97-AF65-F5344CB8AC3E}">
        <p14:creationId xmlns:p14="http://schemas.microsoft.com/office/powerpoint/2010/main" val="4070266077"/>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732D0-D98B-4520-9CDA-1EBE0E121B32}"/>
              </a:ext>
            </a:extLst>
          </p:cNvPr>
          <p:cNvSpPr>
            <a:spLocks noGrp="1"/>
          </p:cNvSpPr>
          <p:nvPr>
            <p:ph type="title"/>
          </p:nvPr>
        </p:nvSpPr>
        <p:spPr/>
        <p:txBody>
          <a:bodyPr/>
          <a:lstStyle/>
          <a:p>
            <a:r>
              <a:rPr lang="en-US" dirty="0"/>
              <a:t>Unit twenty-one – a technology business</a:t>
            </a:r>
            <a:endParaRPr lang="en-GB" dirty="0"/>
          </a:p>
        </p:txBody>
      </p:sp>
      <p:sp>
        <p:nvSpPr>
          <p:cNvPr id="3" name="Content Placeholder 2">
            <a:extLst>
              <a:ext uri="{FF2B5EF4-FFF2-40B4-BE49-F238E27FC236}">
                <a16:creationId xmlns:a16="http://schemas.microsoft.com/office/drawing/2014/main" id="{2B2BB5E3-555A-4092-9495-A099823FC285}"/>
              </a:ext>
            </a:extLst>
          </p:cNvPr>
          <p:cNvSpPr>
            <a:spLocks noGrp="1"/>
          </p:cNvSpPr>
          <p:nvPr>
            <p:ph idx="1"/>
          </p:nvPr>
        </p:nvSpPr>
        <p:spPr>
          <a:xfrm>
            <a:off x="1451579" y="2015732"/>
            <a:ext cx="9603275" cy="4037749"/>
          </a:xfrm>
        </p:spPr>
        <p:txBody>
          <a:bodyPr>
            <a:normAutofit fontScale="47500" lnSpcReduction="20000"/>
          </a:bodyPr>
          <a:lstStyle/>
          <a:p>
            <a:r>
              <a:rPr lang="en-US" dirty="0">
                <a:solidFill>
                  <a:srgbClr val="C00000"/>
                </a:solidFill>
              </a:rPr>
              <a:t>In this unit you will understand some of the principles of marketing and use these to investigate successful technology-based products and services. To be successful the idea behind the business needs to meet customers' needs, the technology needs to perform as intended and the business needs to function well.</a:t>
            </a:r>
          </a:p>
          <a:p>
            <a:r>
              <a:rPr lang="en-US" dirty="0">
                <a:solidFill>
                  <a:srgbClr val="C00000"/>
                </a:solidFill>
              </a:rPr>
              <a:t>In this unit you will:</a:t>
            </a:r>
          </a:p>
          <a:p>
            <a:endParaRPr lang="en-US" dirty="0">
              <a:solidFill>
                <a:srgbClr val="C00000"/>
              </a:solidFill>
            </a:endParaRPr>
          </a:p>
          <a:p>
            <a:r>
              <a:rPr lang="en-US" dirty="0">
                <a:solidFill>
                  <a:srgbClr val="C00000"/>
                </a:solidFill>
              </a:rPr>
              <a:t>LOA - Understand the principles of marketing and investigate successful technology-based product(s) and service(s)</a:t>
            </a:r>
          </a:p>
          <a:p>
            <a:endParaRPr lang="en-US" dirty="0">
              <a:solidFill>
                <a:srgbClr val="C00000"/>
              </a:solidFill>
            </a:endParaRPr>
          </a:p>
          <a:p>
            <a:r>
              <a:rPr lang="en-US" dirty="0">
                <a:solidFill>
                  <a:srgbClr val="C00000"/>
                </a:solidFill>
              </a:rPr>
              <a:t>Technology Businesses</a:t>
            </a:r>
          </a:p>
          <a:p>
            <a:r>
              <a:rPr lang="en-US" dirty="0">
                <a:solidFill>
                  <a:srgbClr val="C00000"/>
                </a:solidFill>
              </a:rPr>
              <a:t>Principles of Marketing</a:t>
            </a:r>
          </a:p>
          <a:p>
            <a:r>
              <a:rPr lang="en-US" dirty="0">
                <a:solidFill>
                  <a:srgbClr val="C00000"/>
                </a:solidFill>
              </a:rPr>
              <a:t>LOB - Select and conduct market research on a prototype technology-based product or service </a:t>
            </a:r>
          </a:p>
          <a:p>
            <a:pPr marL="0" indent="0">
              <a:buNone/>
            </a:pPr>
            <a:endParaRPr lang="en-US" dirty="0">
              <a:solidFill>
                <a:srgbClr val="C00000"/>
              </a:solidFill>
            </a:endParaRPr>
          </a:p>
          <a:p>
            <a:r>
              <a:rPr lang="en-US" dirty="0">
                <a:solidFill>
                  <a:srgbClr val="C00000"/>
                </a:solidFill>
              </a:rPr>
              <a:t>Idea Selection and Review</a:t>
            </a:r>
          </a:p>
          <a:p>
            <a:r>
              <a:rPr lang="en-US" dirty="0">
                <a:solidFill>
                  <a:srgbClr val="C00000"/>
                </a:solidFill>
              </a:rPr>
              <a:t>Primary Field-based Market Research</a:t>
            </a:r>
          </a:p>
          <a:p>
            <a:r>
              <a:rPr lang="en-US" dirty="0">
                <a:solidFill>
                  <a:srgbClr val="C00000"/>
                </a:solidFill>
              </a:rPr>
              <a:t>Secondary Desk-based Market Research</a:t>
            </a:r>
          </a:p>
          <a:p>
            <a:r>
              <a:rPr lang="en-US" dirty="0">
                <a:solidFill>
                  <a:srgbClr val="C00000"/>
                </a:solidFill>
              </a:rPr>
              <a:t>LOC - Produce a basic breakeven analysis for a prototype technology-based product or service</a:t>
            </a:r>
          </a:p>
          <a:p>
            <a:r>
              <a:rPr lang="en-US" dirty="0">
                <a:solidFill>
                  <a:srgbClr val="C00000"/>
                </a:solidFill>
              </a:rPr>
              <a:t>LOD - Produce and present a business plan for a technology-based product or service</a:t>
            </a:r>
          </a:p>
        </p:txBody>
      </p:sp>
    </p:spTree>
    <p:extLst>
      <p:ext uri="{BB962C8B-B14F-4D97-AF65-F5344CB8AC3E}">
        <p14:creationId xmlns:p14="http://schemas.microsoft.com/office/powerpoint/2010/main" val="3755872339"/>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FEF9E9-A9FF-48EA-8373-5E9173D4BB46}"/>
              </a:ext>
            </a:extLst>
          </p:cNvPr>
          <p:cNvSpPr>
            <a:spLocks noGrp="1"/>
          </p:cNvSpPr>
          <p:nvPr>
            <p:ph type="title"/>
          </p:nvPr>
        </p:nvSpPr>
        <p:spPr/>
        <p:txBody>
          <a:bodyPr/>
          <a:lstStyle/>
          <a:p>
            <a:r>
              <a:rPr lang="en-US" dirty="0"/>
              <a:t>Course teachers</a:t>
            </a:r>
            <a:endParaRPr lang="en-GB" dirty="0"/>
          </a:p>
        </p:txBody>
      </p:sp>
      <p:pic>
        <p:nvPicPr>
          <p:cNvPr id="4" name="Content Placeholder 3">
            <a:extLst>
              <a:ext uri="{FF2B5EF4-FFF2-40B4-BE49-F238E27FC236}">
                <a16:creationId xmlns:a16="http://schemas.microsoft.com/office/drawing/2014/main" id="{1F17829C-DF42-49BB-A76F-A7F376F07F43}"/>
              </a:ext>
            </a:extLst>
          </p:cNvPr>
          <p:cNvPicPr>
            <a:picLocks noGrp="1" noChangeAspect="1"/>
          </p:cNvPicPr>
          <p:nvPr>
            <p:ph idx="1"/>
          </p:nvPr>
        </p:nvPicPr>
        <p:blipFill>
          <a:blip r:embed="rId2"/>
          <a:stretch>
            <a:fillRect/>
          </a:stretch>
        </p:blipFill>
        <p:spPr>
          <a:xfrm>
            <a:off x="3756621" y="2016125"/>
            <a:ext cx="4993083" cy="3449638"/>
          </a:xfrm>
          <a:prstGeom prst="rect">
            <a:avLst/>
          </a:prstGeom>
        </p:spPr>
      </p:pic>
    </p:spTree>
    <p:extLst>
      <p:ext uri="{BB962C8B-B14F-4D97-AF65-F5344CB8AC3E}">
        <p14:creationId xmlns:p14="http://schemas.microsoft.com/office/powerpoint/2010/main" val="1155440469"/>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BAF2B-58E0-4235-8E0A-0FE60F9CCB4C}"/>
              </a:ext>
            </a:extLst>
          </p:cNvPr>
          <p:cNvSpPr>
            <a:spLocks noGrp="1"/>
          </p:cNvSpPr>
          <p:nvPr>
            <p:ph type="title"/>
          </p:nvPr>
        </p:nvSpPr>
        <p:spPr>
          <a:xfrm>
            <a:off x="1409634" y="2457150"/>
            <a:ext cx="9603275" cy="1049235"/>
          </a:xfrm>
        </p:spPr>
        <p:txBody>
          <a:bodyPr/>
          <a:lstStyle/>
          <a:p>
            <a:pPr algn="ctr"/>
            <a:r>
              <a:rPr lang="en-US" dirty="0"/>
              <a:t>Thank you for choosing IT</a:t>
            </a:r>
            <a:endParaRPr lang="en-GB" dirty="0"/>
          </a:p>
        </p:txBody>
      </p:sp>
    </p:spTree>
    <p:extLst>
      <p:ext uri="{BB962C8B-B14F-4D97-AF65-F5344CB8AC3E}">
        <p14:creationId xmlns:p14="http://schemas.microsoft.com/office/powerpoint/2010/main" val="1528191487"/>
      </p:ext>
    </p:extLst>
  </p:cSld>
  <p:clrMapOvr>
    <a:masterClrMapping/>
  </p:clrMapOvr>
  <p:transition spd="slow">
    <p:push dir="u"/>
  </p:transition>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325E100519F324B924EAA52D502CFF6" ma:contentTypeVersion="11" ma:contentTypeDescription="Create a new document." ma:contentTypeScope="" ma:versionID="84c9b2193c39630d30e1ba7e0e1090ed">
  <xsd:schema xmlns:xsd="http://www.w3.org/2001/XMLSchema" xmlns:xs="http://www.w3.org/2001/XMLSchema" xmlns:p="http://schemas.microsoft.com/office/2006/metadata/properties" xmlns:ns3="7ac2e845-e209-4bd0-8853-f0a40aad2acd" xmlns:ns4="9a569939-0db0-4e3c-aef4-73f7d3b1dd8b" targetNamespace="http://schemas.microsoft.com/office/2006/metadata/properties" ma:root="true" ma:fieldsID="d0f3f6c7ceec76639cce84c43032c5c0" ns3:_="" ns4:_="">
    <xsd:import namespace="7ac2e845-e209-4bd0-8853-f0a40aad2acd"/>
    <xsd:import namespace="9a569939-0db0-4e3c-aef4-73f7d3b1dd8b"/>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c2e845-e209-4bd0-8853-f0a40aad2ac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a569939-0db0-4e3c-aef4-73f7d3b1dd8b"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C12CFDC-EE8A-45DA-B556-EF548C685302}">
  <ds:schemaRefs>
    <ds:schemaRef ds:uri="http://schemas.microsoft.com/office/infopath/2007/PartnerControls"/>
    <ds:schemaRef ds:uri="http://purl.org/dc/elements/1.1/"/>
    <ds:schemaRef ds:uri="http://www.w3.org/XML/1998/namespace"/>
    <ds:schemaRef ds:uri="9a569939-0db0-4e3c-aef4-73f7d3b1dd8b"/>
    <ds:schemaRef ds:uri="http://purl.org/dc/dcmitype/"/>
    <ds:schemaRef ds:uri="http://schemas.microsoft.com/office/2006/metadata/properties"/>
    <ds:schemaRef ds:uri="http://schemas.openxmlformats.org/package/2006/metadata/core-properties"/>
    <ds:schemaRef ds:uri="http://schemas.microsoft.com/office/2006/documentManagement/types"/>
    <ds:schemaRef ds:uri="7ac2e845-e209-4bd0-8853-f0a40aad2acd"/>
    <ds:schemaRef ds:uri="http://purl.org/dc/terms/"/>
  </ds:schemaRefs>
</ds:datastoreItem>
</file>

<file path=customXml/itemProps2.xml><?xml version="1.0" encoding="utf-8"?>
<ds:datastoreItem xmlns:ds="http://schemas.openxmlformats.org/officeDocument/2006/customXml" ds:itemID="{4BC0023F-1F91-4385-9D52-E7A083F849B3}">
  <ds:schemaRefs>
    <ds:schemaRef ds:uri="http://schemas.microsoft.com/sharepoint/v3/contenttype/forms"/>
  </ds:schemaRefs>
</ds:datastoreItem>
</file>

<file path=customXml/itemProps3.xml><?xml version="1.0" encoding="utf-8"?>
<ds:datastoreItem xmlns:ds="http://schemas.openxmlformats.org/officeDocument/2006/customXml" ds:itemID="{5FDBAAB3-5127-4548-8035-18A23629C0E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ac2e845-e209-4bd0-8853-f0a40aad2acd"/>
    <ds:schemaRef ds:uri="9a569939-0db0-4e3c-aef4-73f7d3b1dd8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TM10001114[[fn=Gallery]]</Template>
  <TotalTime>33</TotalTime>
  <Words>1254</Words>
  <Application>Microsoft Office PowerPoint</Application>
  <PresentationFormat>Widescreen</PresentationFormat>
  <Paragraphs>120</Paragraphs>
  <Slides>17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Gill Sans MT</vt:lpstr>
      <vt:lpstr>Gallery</vt:lpstr>
      <vt:lpstr>First Diploma ICT Level 2</vt:lpstr>
      <vt:lpstr>Index</vt:lpstr>
      <vt:lpstr>Introduction</vt:lpstr>
      <vt:lpstr>Why this course could be for you</vt:lpstr>
      <vt:lpstr>What qualifications will you need?</vt:lpstr>
      <vt:lpstr>What is included in the course?</vt:lpstr>
      <vt:lpstr>Unit one – the online world (examined)</vt:lpstr>
      <vt:lpstr>Unit two – Technology systems (examined)</vt:lpstr>
      <vt:lpstr>Unit three – A digital portfolio</vt:lpstr>
      <vt:lpstr>Unit ten – database development</vt:lpstr>
      <vt:lpstr>Unit twelve – Software development</vt:lpstr>
      <vt:lpstr>Unit thirteen – website development</vt:lpstr>
      <vt:lpstr>Unit seventeen – multimedia product development</vt:lpstr>
      <vt:lpstr>Unit nineteen – computing in the workplace</vt:lpstr>
      <vt:lpstr>Unit twenty-one – a technology business</vt:lpstr>
      <vt:lpstr>Course teachers</vt:lpstr>
      <vt:lpstr>Thank you for choosing IT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First Diploma ICT Level 2</dc:title>
  <dc:creator>Sebastian Archer</dc:creator>
  <cp:lastModifiedBy>Sebastian Archer</cp:lastModifiedBy>
  <cp:revision>2</cp:revision>
  <dcterms:created xsi:type="dcterms:W3CDTF">2022-02-01T15:31:04Z</dcterms:created>
  <dcterms:modified xsi:type="dcterms:W3CDTF">2022-02-15T15:34:53Z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0x010100E325E100519F324B924EAA52D502CFF6</vt:lpwstr>
  </property>
</Properties>
</file>