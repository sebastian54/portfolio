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8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0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5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42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4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5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986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41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55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3/31/2022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41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75" r:id="rId5"/>
    <p:sldLayoutId id="2147483680" r:id="rId6"/>
    <p:sldLayoutId id="2147483676" r:id="rId7"/>
    <p:sldLayoutId id="2147483677" r:id="rId8"/>
    <p:sldLayoutId id="2147483678" r:id="rId9"/>
    <p:sldLayoutId id="2147483679" r:id="rId10"/>
    <p:sldLayoutId id="214748368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395F60-AC8B-4E8B-8E61-9CE6A0442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en-GB" sz="4000" dirty="0">
                <a:solidFill>
                  <a:schemeClr val="bg1"/>
                </a:solidFill>
              </a:rPr>
              <a:t>Health and Wellbeing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C9D1F-F496-4F93-B3ED-DFCD58592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934" y="5220450"/>
            <a:ext cx="3380437" cy="570748"/>
          </a:xfrm>
        </p:spPr>
        <p:txBody>
          <a:bodyPr anchor="b">
            <a:normAutofit/>
          </a:bodyPr>
          <a:lstStyle/>
          <a:p>
            <a:endParaRPr lang="en-GB" sz="18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pple with measuring tape">
            <a:extLst>
              <a:ext uri="{FF2B5EF4-FFF2-40B4-BE49-F238E27FC236}">
                <a16:creationId xmlns:a16="http://schemas.microsoft.com/office/drawing/2014/main" id="{A4719B19-5392-B85E-A0B2-4B9405E685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593" b="-1"/>
          <a:stretch/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8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4B365-E586-4B52-A1B2-D1928C840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Mental health</a:t>
            </a:r>
          </a:p>
        </p:txBody>
      </p:sp>
      <p:pic>
        <p:nvPicPr>
          <p:cNvPr id="1026" name="Picture 2" descr="Mental health in numbers">
            <a:extLst>
              <a:ext uri="{FF2B5EF4-FFF2-40B4-BE49-F238E27FC236}">
                <a16:creationId xmlns:a16="http://schemas.microsoft.com/office/drawing/2014/main" id="{E89F8005-2379-4E89-AA2D-3595E99EDA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6267" y="2298941"/>
            <a:ext cx="5455444" cy="363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56E7D8-ADD9-4DFF-8E99-E7C1A09AD996}"/>
              </a:ext>
            </a:extLst>
          </p:cNvPr>
          <p:cNvSpPr txBox="1"/>
          <p:nvPr/>
        </p:nvSpPr>
        <p:spPr>
          <a:xfrm>
            <a:off x="700635" y="2293126"/>
            <a:ext cx="4679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Mental health problems are common, with 1 in 6 adults reporting a common mental health disorder, such as anxiety, and there are close to 551,000 people in England with more severe mental illness (SMI) such as schizophrenia or bipolar disorder.</a:t>
            </a:r>
          </a:p>
          <a:p>
            <a:endParaRPr lang="en-GB" dirty="0"/>
          </a:p>
          <a:p>
            <a:r>
              <a:rPr lang="en-GB" dirty="0"/>
              <a:t>Problems are often hidden, stigma is still widespread, and many people are not receiving support to access services.</a:t>
            </a:r>
          </a:p>
        </p:txBody>
      </p:sp>
    </p:spTree>
    <p:extLst>
      <p:ext uri="{BB962C8B-B14F-4D97-AF65-F5344CB8AC3E}">
        <p14:creationId xmlns:p14="http://schemas.microsoft.com/office/powerpoint/2010/main" val="658497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380C-2F2B-4DCC-9032-438CF9E0B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solidFill>
                  <a:srgbClr val="0B0C0C"/>
                </a:solidFill>
                <a:effectLst/>
                <a:latin typeface="GDS Transport"/>
              </a:rPr>
              <a:t>Impact of COVID-19</a:t>
            </a:r>
            <a:br>
              <a:rPr lang="en-GB" b="1" i="0" dirty="0">
                <a:solidFill>
                  <a:srgbClr val="0B0C0C"/>
                </a:solidFill>
                <a:effectLst/>
                <a:latin typeface="GDS Transport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0718-7E1A-4B67-AFDE-BDD6DB191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93126"/>
            <a:ext cx="5713228" cy="3642778"/>
          </a:xfrm>
        </p:spPr>
        <p:txBody>
          <a:bodyPr/>
          <a:lstStyle/>
          <a:p>
            <a:r>
              <a:rPr lang="en-GB" b="0" i="0" dirty="0">
                <a:solidFill>
                  <a:srgbClr val="0B0C0C"/>
                </a:solidFill>
                <a:effectLst/>
                <a:latin typeface="GDS Transport"/>
              </a:rPr>
              <a:t>Public Health England has been monitoring population mental health throughout the pandemic using a range of surveys close to real-time data. This shows that self-reported mental health and wellbeing at a population level (including in anxiety, stress and depression) has worsened during the pandemic and remains worse than pre-pandemic levels.</a:t>
            </a:r>
            <a:endParaRPr lang="en-GB" dirty="0"/>
          </a:p>
        </p:txBody>
      </p:sp>
      <p:pic>
        <p:nvPicPr>
          <p:cNvPr id="2050" name="Picture 2" descr="Chart: Covid-19's Widespread Impact On Mental Health | Statista">
            <a:extLst>
              <a:ext uri="{FF2B5EF4-FFF2-40B4-BE49-F238E27FC236}">
                <a16:creationId xmlns:a16="http://schemas.microsoft.com/office/drawing/2014/main" id="{996D7751-8AD4-4AEB-91C2-029D51391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607" y="1146563"/>
            <a:ext cx="4564874" cy="4564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33883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323820"/>
      </a:dk2>
      <a:lt2>
        <a:srgbClr val="E8E2E2"/>
      </a:lt2>
      <a:accent1>
        <a:srgbClr val="30B2AA"/>
      </a:accent1>
      <a:accent2>
        <a:srgbClr val="25B871"/>
      </a:accent2>
      <a:accent3>
        <a:srgbClr val="32B93F"/>
      </a:accent3>
      <a:accent4>
        <a:srgbClr val="52B625"/>
      </a:accent4>
      <a:accent5>
        <a:srgbClr val="8AAB2E"/>
      </a:accent5>
      <a:accent6>
        <a:srgbClr val="B59F24"/>
      </a:accent6>
      <a:hlink>
        <a:srgbClr val="638C2E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11" ma:contentTypeDescription="Create a new document." ma:contentTypeScope="" ma:versionID="84c9b2193c39630d30e1ba7e0e1090ed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d0f3f6c7ceec76639cce84c43032c5c0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2CEA8E-7CA6-46E9-8C16-FFB4E85521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1E8BFB-2D7D-4F2F-9C4F-3F44BE99AE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379A2-477B-4A46-8B6F-765DD066DB6C}">
  <ds:schemaRefs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9a569939-0db0-4e3c-aef4-73f7d3b1dd8b"/>
    <ds:schemaRef ds:uri="7ac2e845-e209-4bd0-8853-f0a40aad2ac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Calisto MT</vt:lpstr>
      <vt:lpstr>GDS Transport</vt:lpstr>
      <vt:lpstr>Univers Condensed</vt:lpstr>
      <vt:lpstr>ChronicleVTI</vt:lpstr>
      <vt:lpstr>Health and Wellbeing</vt:lpstr>
      <vt:lpstr>Mental health</vt:lpstr>
      <vt:lpstr>Impact of COVID-19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and Wellbeing</dc:title>
  <dc:creator>Sebastian Archer</dc:creator>
  <cp:lastModifiedBy>Sebastian Archer</cp:lastModifiedBy>
  <cp:revision>1</cp:revision>
  <dcterms:created xsi:type="dcterms:W3CDTF">2022-03-31T09:32:09Z</dcterms:created>
  <dcterms:modified xsi:type="dcterms:W3CDTF">2022-03-31T09:41:54Z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