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5"/>
  </p:sldMasterIdLst>
  <p:sldIdLst>
    <p:sldId id="256" r:id="rId6"/>
    <p:sldId id="257" r:id="rId7"/>
    <p:sldId id="258" r:id="rId8"/>
    <p:sldId id="259" r:id="rId9"/>
    <p:sldId id="260" r:id="rId10"/>
    <p:sldId id="261"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21" autoAdjust="0"/>
    <p:restoredTop sz="94660"/>
  </p:normalViewPr>
  <p:slideViewPr>
    <p:cSldViewPr snapToGrid="0">
      <p:cViewPr varScale="1">
        <p:scale>
          <a:sx n="90" d="100"/>
          <a:sy n="90" d="100"/>
        </p:scale>
        <p:origin x="168"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1.xml"/><Relationship Id="rId15" Type="http://schemas.openxmlformats.org/officeDocument/2006/relationships/tableStyles" Target="tableStyles.xml"/><Relationship Id="rId10" Type="http://schemas.openxmlformats.org/officeDocument/2006/relationships/slide" Target="slides/slide5.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bastian Archer" userId="86a15a89-88d3-4c17-ad5c-d158eeb765a3" providerId="ADAL" clId="{D3BBF83A-B9EA-4739-B341-AF196E98EB68}"/>
    <pc:docChg chg="addSld delSld modSld">
      <pc:chgData name="Sebastian Archer" userId="86a15a89-88d3-4c17-ad5c-d158eeb765a3" providerId="ADAL" clId="{D3BBF83A-B9EA-4739-B341-AF196E98EB68}" dt="2022-05-09T14:03:59.794" v="19" actId="20577"/>
      <pc:docMkLst>
        <pc:docMk/>
      </pc:docMkLst>
      <pc:sldChg chg="del">
        <pc:chgData name="Sebastian Archer" userId="86a15a89-88d3-4c17-ad5c-d158eeb765a3" providerId="ADAL" clId="{D3BBF83A-B9EA-4739-B341-AF196E98EB68}" dt="2022-05-09T13:51:56.936" v="0" actId="2696"/>
        <pc:sldMkLst>
          <pc:docMk/>
          <pc:sldMk cId="604607289" sldId="261"/>
        </pc:sldMkLst>
      </pc:sldChg>
      <pc:sldChg chg="modSp add">
        <pc:chgData name="Sebastian Archer" userId="86a15a89-88d3-4c17-ad5c-d158eeb765a3" providerId="ADAL" clId="{D3BBF83A-B9EA-4739-B341-AF196E98EB68}" dt="2022-05-09T14:03:59.794" v="19" actId="20577"/>
        <pc:sldMkLst>
          <pc:docMk/>
          <pc:sldMk cId="2215508500" sldId="261"/>
        </pc:sldMkLst>
        <pc:spChg chg="mod">
          <ac:chgData name="Sebastian Archer" userId="86a15a89-88d3-4c17-ad5c-d158eeb765a3" providerId="ADAL" clId="{D3BBF83A-B9EA-4739-B341-AF196E98EB68}" dt="2022-05-09T14:03:59.794" v="19" actId="20577"/>
          <ac:spMkLst>
            <pc:docMk/>
            <pc:sldMk cId="2215508500" sldId="261"/>
            <ac:spMk id="2" creationId="{C7EFB3A9-BD96-44D9-8A28-55EE50DB5C51}"/>
          </ac:spMkLst>
        </pc:spChg>
        <pc:spChg chg="mod">
          <ac:chgData name="Sebastian Archer" userId="86a15a89-88d3-4c17-ad5c-d158eeb765a3" providerId="ADAL" clId="{D3BBF83A-B9EA-4739-B341-AF196E98EB68}" dt="2022-05-09T14:03:54.756" v="2"/>
          <ac:spMkLst>
            <pc:docMk/>
            <pc:sldMk cId="2215508500" sldId="261"/>
            <ac:spMk id="3" creationId="{3D74200B-018F-4177-8D26-B911E71515BA}"/>
          </ac:spMkLst>
        </pc:spChg>
      </pc:sldChg>
    </pc:docChg>
  </pc:docChgLst>
  <pc:docChgLst>
    <pc:chgData name="Sebastian Archer" userId="86a15a89-88d3-4c17-ad5c-d158eeb765a3" providerId="ADAL" clId="{884ED543-7058-454F-8CA0-7B629A959764}"/>
    <pc:docChg chg="custSel modSld">
      <pc:chgData name="Sebastian Archer" userId="86a15a89-88d3-4c17-ad5c-d158eeb765a3" providerId="ADAL" clId="{884ED543-7058-454F-8CA0-7B629A959764}" dt="2022-05-09T09:38:36.837" v="10" actId="478"/>
      <pc:docMkLst>
        <pc:docMk/>
      </pc:docMkLst>
      <pc:sldChg chg="addSp delSp modSp">
        <pc:chgData name="Sebastian Archer" userId="86a15a89-88d3-4c17-ad5c-d158eeb765a3" providerId="ADAL" clId="{884ED543-7058-454F-8CA0-7B629A959764}" dt="2022-05-09T09:38:36.837" v="10" actId="478"/>
        <pc:sldMkLst>
          <pc:docMk/>
          <pc:sldMk cId="604607289" sldId="261"/>
        </pc:sldMkLst>
        <pc:spChg chg="del">
          <ac:chgData name="Sebastian Archer" userId="86a15a89-88d3-4c17-ad5c-d158eeb765a3" providerId="ADAL" clId="{884ED543-7058-454F-8CA0-7B629A959764}" dt="2022-05-09T09:38:35.950" v="9" actId="478"/>
          <ac:spMkLst>
            <pc:docMk/>
            <pc:sldMk cId="604607289" sldId="261"/>
            <ac:spMk id="5" creationId="{3EA6B38E-FB36-4E1F-AA8A-3E60A12D5651}"/>
          </ac:spMkLst>
        </pc:spChg>
        <pc:grpChg chg="add del mod">
          <ac:chgData name="Sebastian Archer" userId="86a15a89-88d3-4c17-ad5c-d158eeb765a3" providerId="ADAL" clId="{884ED543-7058-454F-8CA0-7B629A959764}" dt="2022-05-09T09:38:36.837" v="10" actId="478"/>
          <ac:grpSpMkLst>
            <pc:docMk/>
            <pc:sldMk cId="604607289" sldId="261"/>
            <ac:grpSpMk id="4" creationId="{259FF2AE-E992-42FB-BFAB-13ED69AF5F86}"/>
          </ac:grpSpMkLst>
        </pc:grpChg>
        <pc:grpChg chg="mod">
          <ac:chgData name="Sebastian Archer" userId="86a15a89-88d3-4c17-ad5c-d158eeb765a3" providerId="ADAL" clId="{884ED543-7058-454F-8CA0-7B629A959764}" dt="2022-05-09T09:38:18.160" v="4"/>
          <ac:grpSpMkLst>
            <pc:docMk/>
            <pc:sldMk cId="604607289" sldId="261"/>
            <ac:grpSpMk id="9" creationId="{6D5DF6BC-B038-41DA-AD9D-93D0B9EDEA00}"/>
          </ac:grpSpMkLst>
        </pc:grpChg>
        <pc:grpChg chg="mod">
          <ac:chgData name="Sebastian Archer" userId="86a15a89-88d3-4c17-ad5c-d158eeb765a3" providerId="ADAL" clId="{884ED543-7058-454F-8CA0-7B629A959764}" dt="2022-05-09T09:38:18.160" v="4"/>
          <ac:grpSpMkLst>
            <pc:docMk/>
            <pc:sldMk cId="604607289" sldId="261"/>
            <ac:grpSpMk id="10" creationId="{383E04F6-6204-459B-B3DF-E02EAD50F5B6}"/>
          </ac:grpSpMkLst>
        </pc:grpChg>
        <pc:grpChg chg="mod">
          <ac:chgData name="Sebastian Archer" userId="86a15a89-88d3-4c17-ad5c-d158eeb765a3" providerId="ADAL" clId="{884ED543-7058-454F-8CA0-7B629A959764}" dt="2022-05-09T09:38:18.160" v="4"/>
          <ac:grpSpMkLst>
            <pc:docMk/>
            <pc:sldMk cId="604607289" sldId="261"/>
            <ac:grpSpMk id="14" creationId="{D978AA4E-7F31-40A0-BDE3-E33D2DFD7E90}"/>
          </ac:grpSpMkLst>
        </pc:grpChg>
        <pc:grpChg chg="mod">
          <ac:chgData name="Sebastian Archer" userId="86a15a89-88d3-4c17-ad5c-d158eeb765a3" providerId="ADAL" clId="{884ED543-7058-454F-8CA0-7B629A959764}" dt="2022-05-09T09:38:18.160" v="4"/>
          <ac:grpSpMkLst>
            <pc:docMk/>
            <pc:sldMk cId="604607289" sldId="261"/>
            <ac:grpSpMk id="22" creationId="{49B9A97B-F670-4F62-957D-91812379489A}"/>
          </ac:grpSpMkLst>
        </pc:grpChg>
        <pc:grpChg chg="mod">
          <ac:chgData name="Sebastian Archer" userId="86a15a89-88d3-4c17-ad5c-d158eeb765a3" providerId="ADAL" clId="{884ED543-7058-454F-8CA0-7B629A959764}" dt="2022-05-09T09:38:18.160" v="4"/>
          <ac:grpSpMkLst>
            <pc:docMk/>
            <pc:sldMk cId="604607289" sldId="261"/>
            <ac:grpSpMk id="26" creationId="{E7E66ABF-B38E-4551-A73F-25F53083CB7D}"/>
          </ac:grpSpMkLst>
        </pc:grpChg>
        <pc:grpChg chg="mod">
          <ac:chgData name="Sebastian Archer" userId="86a15a89-88d3-4c17-ad5c-d158eeb765a3" providerId="ADAL" clId="{884ED543-7058-454F-8CA0-7B629A959764}" dt="2022-05-09T09:38:18.160" v="4"/>
          <ac:grpSpMkLst>
            <pc:docMk/>
            <pc:sldMk cId="604607289" sldId="261"/>
            <ac:grpSpMk id="29" creationId="{7C2F78DB-4AF5-4424-B167-920F349B8E99}"/>
          </ac:grpSpMkLst>
        </pc:gr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678426" y="889820"/>
            <a:ext cx="9989574" cy="3598606"/>
          </a:xfrm>
        </p:spPr>
        <p:txBody>
          <a:bodyPr anchor="t">
            <a:normAutofit/>
          </a:bodyPr>
          <a:lstStyle>
            <a:lvl1pPr algn="l">
              <a:defRPr sz="5400"/>
            </a:lvl1pPr>
          </a:lstStyle>
          <a:p>
            <a:r>
              <a:rPr lang="en-US" dirty="0"/>
              <a:t>Click to edit Master title style</a:t>
            </a:r>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678426"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2F3E8B1C-86EF-43CF-8304-249481088644}" type="datetimeFigureOut">
              <a:rPr lang="en-US" smtClean="0"/>
              <a:t>5/9/2022</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17547877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2F3E8B1C-86EF-43CF-8304-249481088644}" type="datetimeFigureOut">
              <a:rPr lang="en-US" smtClean="0"/>
              <a:t>5/9/2022</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22536044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dirty="0"/>
              <a:t>Click to edit Master title style</a:t>
            </a:r>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2F3E8B1C-86EF-43CF-8304-249481088644}" type="datetimeFigureOut">
              <a:rPr lang="en-US" smtClean="0"/>
              <a:t>5/9/2022</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6314545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22096"/>
            <a:ext cx="10691265" cy="1127930"/>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15383" y="2128684"/>
            <a:ext cx="5304417" cy="384441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72200" y="2128684"/>
            <a:ext cx="5219700" cy="384441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2F3E8B1C-86EF-43CF-8304-249481088644}" type="datetimeFigureOut">
              <a:rPr lang="en-US" smtClean="0"/>
              <a:t>5/9/2022</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7774423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685887" y="929148"/>
            <a:ext cx="10640005" cy="761540"/>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15384" y="1681163"/>
            <a:ext cx="5282192"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15384" y="2505075"/>
            <a:ext cx="5282192" cy="342377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72200" y="1681163"/>
            <a:ext cx="5183188"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72200" y="2505075"/>
            <a:ext cx="5183188" cy="34237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2F3E8B1C-86EF-43CF-8304-249481088644}" type="datetimeFigureOut">
              <a:rPr lang="en-US" smtClean="0"/>
              <a:t>5/9/2022</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39593746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2F3E8B1C-86EF-43CF-8304-249481088644}" type="datetimeFigureOut">
              <a:rPr lang="en-US" smtClean="0"/>
              <a:t>5/9/2022</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24356485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2F3E8B1C-86EF-43CF-8304-249481088644}" type="datetimeFigureOut">
              <a:rPr lang="en-US" smtClean="0"/>
              <a:t>5/9/2022</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34832555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678426" y="781665"/>
            <a:ext cx="4093599" cy="1223452"/>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688258" y="2315497"/>
            <a:ext cx="4093599" cy="355349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2F3E8B1C-86EF-43CF-8304-249481088644}" type="datetimeFigureOut">
              <a:rPr lang="en-US" smtClean="0"/>
              <a:t>5/9/2022</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16349862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683342" y="1066800"/>
            <a:ext cx="4103431" cy="1317523"/>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683342"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2F3E8B1C-86EF-43CF-8304-249481088644}" type="datetimeFigureOut">
              <a:rPr lang="en-US" smtClean="0"/>
              <a:t>5/9/2022</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38118500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2F3E8B1C-86EF-43CF-8304-249481088644}" type="datetimeFigureOut">
              <a:rPr lang="en-US" smtClean="0"/>
              <a:t>5/9/2022</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16950411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838200" y="997973"/>
            <a:ext cx="8404122" cy="4984956"/>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2F3E8B1C-86EF-43CF-8304-249481088644}" type="datetimeFigureOut">
              <a:rPr lang="en-US" smtClean="0"/>
              <a:t>5/9/2022</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26685530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22096"/>
            <a:ext cx="10691265" cy="137103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93126"/>
            <a:ext cx="10691265" cy="363608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92594" cy="365125"/>
          </a:xfrm>
          <a:prstGeom prst="rect">
            <a:avLst/>
          </a:prstGeom>
        </p:spPr>
        <p:txBody>
          <a:bodyPr vert="horz" lIns="91440" tIns="45720" rIns="91440" bIns="45720" rtlCol="0" anchor="ctr"/>
          <a:lstStyle>
            <a:lvl1pPr algn="r">
              <a:defRPr sz="1050">
                <a:solidFill>
                  <a:schemeClr val="tx1"/>
                </a:solidFill>
                <a:latin typeface="+mj-lt"/>
              </a:defRPr>
            </a:lvl1pPr>
          </a:lstStyle>
          <a:p>
            <a:fld id="{2F3E8B1C-86EF-43CF-8304-249481088644}" type="datetimeFigureOut">
              <a:rPr lang="en-US" smtClean="0"/>
              <a:pPr/>
              <a:t>5/9/2022</a:t>
            </a:fld>
            <a:endParaRPr lang="en-US" dirty="0"/>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15383"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C3DB2ADC-AF19-4574-8C10-79B5B04FCA27}" type="slidenum">
              <a:rPr lang="en-US" smtClean="0"/>
              <a:pPr/>
              <a:t>‹#›</a:t>
            </a:fld>
            <a:endParaRPr lang="en-US" dirty="0"/>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4410434"/>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75" r:id="rId5"/>
    <p:sldLayoutId id="2147483680" r:id="rId6"/>
    <p:sldLayoutId id="2147483676" r:id="rId7"/>
    <p:sldLayoutId id="2147483677" r:id="rId8"/>
    <p:sldLayoutId id="2147483678" r:id="rId9"/>
    <p:sldLayoutId id="2147483679" r:id="rId10"/>
    <p:sldLayoutId id="2147483681" r:id="rId11"/>
  </p:sldLayoutIdLst>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customXml" Target="../../customXml/item4.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5D67320-FCFD-4931-AAF7-C6C853329C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C395F60-AC8B-4E8B-8E61-9CE6A04425C7}"/>
              </a:ext>
            </a:extLst>
          </p:cNvPr>
          <p:cNvSpPr>
            <a:spLocks noGrp="1"/>
          </p:cNvSpPr>
          <p:nvPr>
            <p:ph type="ctrTitle"/>
          </p:nvPr>
        </p:nvSpPr>
        <p:spPr>
          <a:xfrm>
            <a:off x="685800" y="908651"/>
            <a:ext cx="3620882" cy="3640345"/>
          </a:xfrm>
        </p:spPr>
        <p:txBody>
          <a:bodyPr anchor="t">
            <a:normAutofit/>
          </a:bodyPr>
          <a:lstStyle/>
          <a:p>
            <a:r>
              <a:rPr lang="en-GB" sz="4000" dirty="0">
                <a:solidFill>
                  <a:schemeClr val="bg1"/>
                </a:solidFill>
              </a:rPr>
              <a:t>Health and Wellbeing</a:t>
            </a:r>
          </a:p>
        </p:txBody>
      </p:sp>
      <p:sp>
        <p:nvSpPr>
          <p:cNvPr id="3" name="Subtitle 2">
            <a:extLst>
              <a:ext uri="{FF2B5EF4-FFF2-40B4-BE49-F238E27FC236}">
                <a16:creationId xmlns:a16="http://schemas.microsoft.com/office/drawing/2014/main" id="{B87C9D1F-F496-4F93-B3ED-DFCD5859274D}"/>
              </a:ext>
            </a:extLst>
          </p:cNvPr>
          <p:cNvSpPr>
            <a:spLocks noGrp="1"/>
          </p:cNvSpPr>
          <p:nvPr>
            <p:ph type="subTitle" idx="1"/>
          </p:nvPr>
        </p:nvSpPr>
        <p:spPr>
          <a:xfrm>
            <a:off x="705934" y="5220450"/>
            <a:ext cx="3380437" cy="570748"/>
          </a:xfrm>
        </p:spPr>
        <p:txBody>
          <a:bodyPr anchor="b">
            <a:normAutofit/>
          </a:bodyPr>
          <a:lstStyle/>
          <a:p>
            <a:endParaRPr lang="en-GB" sz="1800">
              <a:solidFill>
                <a:schemeClr val="bg1"/>
              </a:solidFill>
            </a:endParaRPr>
          </a:p>
        </p:txBody>
      </p:sp>
      <p:cxnSp>
        <p:nvCxnSpPr>
          <p:cNvPr id="13" name="Straight Connector 12">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638300" cy="0"/>
          </a:xfrm>
          <a:prstGeom prst="line">
            <a:avLst/>
          </a:prstGeom>
          <a:ln w="44450">
            <a:solidFill>
              <a:schemeClr val="bg1"/>
            </a:solidFill>
          </a:ln>
        </p:spPr>
        <p:style>
          <a:lnRef idx="1">
            <a:schemeClr val="accent1"/>
          </a:lnRef>
          <a:fillRef idx="0">
            <a:schemeClr val="accent1"/>
          </a:fillRef>
          <a:effectRef idx="0">
            <a:schemeClr val="accent1"/>
          </a:effectRef>
          <a:fontRef idx="minor">
            <a:schemeClr val="tx1"/>
          </a:fontRef>
        </p:style>
      </p:cxnSp>
      <p:pic>
        <p:nvPicPr>
          <p:cNvPr id="4" name="Picture 3" descr="Apple with measuring tape">
            <a:extLst>
              <a:ext uri="{FF2B5EF4-FFF2-40B4-BE49-F238E27FC236}">
                <a16:creationId xmlns:a16="http://schemas.microsoft.com/office/drawing/2014/main" id="{A4719B19-5392-B85E-A0B2-4B9405E68549}"/>
              </a:ext>
            </a:extLst>
          </p:cNvPr>
          <p:cNvPicPr>
            <a:picLocks noChangeAspect="1"/>
          </p:cNvPicPr>
          <p:nvPr>
            <p:custDataLst>
              <p:custData r:id="rId1"/>
            </p:custDataLst>
          </p:nvPr>
        </p:nvPicPr>
        <p:blipFill rotWithShape="1">
          <a:blip r:embed="rId3"/>
          <a:srcRect r="29593" b="-1"/>
          <a:stretch/>
        </p:blipFill>
        <p:spPr>
          <a:xfrm>
            <a:off x="5308585" y="822096"/>
            <a:ext cx="5153470" cy="4830948"/>
          </a:xfrm>
          <a:prstGeom prst="rect">
            <a:avLst/>
          </a:prstGeom>
          <a:scene3d>
            <a:camera prst="perspectiveHeroicExtremeLeftFacing"/>
            <a:lightRig rig="threePt" dir="t"/>
          </a:scene3d>
        </p:spPr>
      </p:pic>
    </p:spTree>
    <p:extLst>
      <p:ext uri="{BB962C8B-B14F-4D97-AF65-F5344CB8AC3E}">
        <p14:creationId xmlns:p14="http://schemas.microsoft.com/office/powerpoint/2010/main" val="855383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4B365-E586-4B52-A1B2-D1928C8400DE}"/>
              </a:ext>
            </a:extLst>
          </p:cNvPr>
          <p:cNvSpPr>
            <a:spLocks noGrp="1"/>
          </p:cNvSpPr>
          <p:nvPr>
            <p:ph type="title"/>
          </p:nvPr>
        </p:nvSpPr>
        <p:spPr/>
        <p:txBody>
          <a:bodyPr/>
          <a:lstStyle/>
          <a:p>
            <a:r>
              <a:rPr lang="en-GB" dirty="0"/>
              <a:t>Mental health</a:t>
            </a:r>
          </a:p>
        </p:txBody>
      </p:sp>
      <p:pic>
        <p:nvPicPr>
          <p:cNvPr id="1026" name="Picture 2" descr="Mental health in numbers">
            <a:extLst>
              <a:ext uri="{FF2B5EF4-FFF2-40B4-BE49-F238E27FC236}">
                <a16:creationId xmlns:a16="http://schemas.microsoft.com/office/drawing/2014/main" id="{E89F8005-2379-4E89-AA2D-3595E99EDA2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046267" y="2298941"/>
            <a:ext cx="5455444" cy="363696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856E7D8-ADD9-4DFF-8E99-E7C1A09AD996}"/>
              </a:ext>
            </a:extLst>
          </p:cNvPr>
          <p:cNvSpPr txBox="1"/>
          <p:nvPr/>
        </p:nvSpPr>
        <p:spPr>
          <a:xfrm>
            <a:off x="700635" y="2293126"/>
            <a:ext cx="4679748" cy="2862322"/>
          </a:xfrm>
          <a:prstGeom prst="rect">
            <a:avLst/>
          </a:prstGeom>
          <a:noFill/>
        </p:spPr>
        <p:txBody>
          <a:bodyPr wrap="square" rtlCol="0">
            <a:spAutoFit/>
          </a:bodyPr>
          <a:lstStyle/>
          <a:p>
            <a:r>
              <a:rPr lang="en-GB" dirty="0"/>
              <a:t>Mental health problems are common, with 1 in 6 adults reporting a common mental health disorder, such as anxiety, and there are close to 551,000 people in England with more severe mental illness (SMI) such as schizophrenia or bipolar disorder.</a:t>
            </a:r>
          </a:p>
          <a:p>
            <a:endParaRPr lang="en-GB" dirty="0"/>
          </a:p>
          <a:p>
            <a:r>
              <a:rPr lang="en-GB" dirty="0"/>
              <a:t>Problems are often hidden, stigma is still widespread, and many people are not receiving support to access services.</a:t>
            </a:r>
          </a:p>
        </p:txBody>
      </p:sp>
    </p:spTree>
    <p:extLst>
      <p:ext uri="{BB962C8B-B14F-4D97-AF65-F5344CB8AC3E}">
        <p14:creationId xmlns:p14="http://schemas.microsoft.com/office/powerpoint/2010/main" val="6584974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7380C-2F2B-4DCC-9032-438CF9E0B0C6}"/>
              </a:ext>
            </a:extLst>
          </p:cNvPr>
          <p:cNvSpPr>
            <a:spLocks noGrp="1"/>
          </p:cNvSpPr>
          <p:nvPr>
            <p:ph type="title"/>
          </p:nvPr>
        </p:nvSpPr>
        <p:spPr/>
        <p:txBody>
          <a:bodyPr/>
          <a:lstStyle/>
          <a:p>
            <a:r>
              <a:rPr lang="en-GB" b="1" i="0" dirty="0">
                <a:solidFill>
                  <a:srgbClr val="0B0C0C"/>
                </a:solidFill>
                <a:effectLst/>
                <a:latin typeface="GDS Transport"/>
              </a:rPr>
              <a:t>Impact of COVID-19</a:t>
            </a:r>
            <a:br>
              <a:rPr lang="en-GB" b="1" i="0" dirty="0">
                <a:solidFill>
                  <a:srgbClr val="0B0C0C"/>
                </a:solidFill>
                <a:effectLst/>
                <a:latin typeface="GDS Transport"/>
              </a:rPr>
            </a:br>
            <a:endParaRPr lang="en-GB" dirty="0"/>
          </a:p>
        </p:txBody>
      </p:sp>
      <p:sp>
        <p:nvSpPr>
          <p:cNvPr id="3" name="Content Placeholder 2">
            <a:extLst>
              <a:ext uri="{FF2B5EF4-FFF2-40B4-BE49-F238E27FC236}">
                <a16:creationId xmlns:a16="http://schemas.microsoft.com/office/drawing/2014/main" id="{48E00718-7E1A-4B67-AFDE-BDD6DB1915CB}"/>
              </a:ext>
            </a:extLst>
          </p:cNvPr>
          <p:cNvSpPr>
            <a:spLocks noGrp="1"/>
          </p:cNvSpPr>
          <p:nvPr>
            <p:ph idx="1"/>
          </p:nvPr>
        </p:nvSpPr>
        <p:spPr>
          <a:xfrm>
            <a:off x="700636" y="2293126"/>
            <a:ext cx="5713228" cy="3642778"/>
          </a:xfrm>
        </p:spPr>
        <p:txBody>
          <a:bodyPr/>
          <a:lstStyle/>
          <a:p>
            <a:r>
              <a:rPr lang="en-GB" b="0" i="0" dirty="0">
                <a:solidFill>
                  <a:srgbClr val="0B0C0C"/>
                </a:solidFill>
                <a:effectLst/>
                <a:latin typeface="GDS Transport"/>
              </a:rPr>
              <a:t>Public Health England has been monitoring population mental health throughout the pandemic using a range of surveys close to real-time data. This shows that self-reported mental health and wellbeing at a population level (including in anxiety, stress and depression) has worsened during the pandemic and remains worse than pre-pandemic levels.</a:t>
            </a:r>
            <a:endParaRPr lang="en-GB" dirty="0"/>
          </a:p>
        </p:txBody>
      </p:sp>
      <p:pic>
        <p:nvPicPr>
          <p:cNvPr id="2050" name="Picture 2" descr="Chart: Covid-19's Widespread Impact On Mental Health | Statista">
            <a:extLst>
              <a:ext uri="{FF2B5EF4-FFF2-40B4-BE49-F238E27FC236}">
                <a16:creationId xmlns:a16="http://schemas.microsoft.com/office/drawing/2014/main" id="{996D7751-8AD4-4AEB-91C2-029D51391F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33607" y="1146563"/>
            <a:ext cx="4564874" cy="45648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83388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A81C1-5DA1-4597-A845-A7B0B9F8A2DE}"/>
              </a:ext>
            </a:extLst>
          </p:cNvPr>
          <p:cNvSpPr>
            <a:spLocks noGrp="1"/>
          </p:cNvSpPr>
          <p:nvPr>
            <p:ph type="title"/>
          </p:nvPr>
        </p:nvSpPr>
        <p:spPr/>
        <p:txBody>
          <a:bodyPr/>
          <a:lstStyle/>
          <a:p>
            <a:r>
              <a:rPr lang="en-US" dirty="0"/>
              <a:t>What foods are good for you?</a:t>
            </a:r>
            <a:endParaRPr lang="en-GB" dirty="0"/>
          </a:p>
        </p:txBody>
      </p:sp>
      <p:sp>
        <p:nvSpPr>
          <p:cNvPr id="3" name="Content Placeholder 2">
            <a:extLst>
              <a:ext uri="{FF2B5EF4-FFF2-40B4-BE49-F238E27FC236}">
                <a16:creationId xmlns:a16="http://schemas.microsoft.com/office/drawing/2014/main" id="{DBFDADD8-5B1C-4D50-8728-C24C2F9B3502}"/>
              </a:ext>
            </a:extLst>
          </p:cNvPr>
          <p:cNvSpPr>
            <a:spLocks noGrp="1"/>
          </p:cNvSpPr>
          <p:nvPr>
            <p:ph idx="1"/>
          </p:nvPr>
        </p:nvSpPr>
        <p:spPr/>
        <p:txBody>
          <a:bodyPr>
            <a:normAutofit fontScale="70000" lnSpcReduction="20000"/>
          </a:bodyPr>
          <a:lstStyle/>
          <a:p>
            <a:r>
              <a:rPr lang="en-GB" dirty="0"/>
              <a:t>Broccoli: Broccoli provides good amounts of </a:t>
            </a:r>
            <a:r>
              <a:rPr lang="en-GB" dirty="0" err="1"/>
              <a:t>fiber</a:t>
            </a:r>
            <a:r>
              <a:rPr lang="en-GB" dirty="0"/>
              <a:t>, calcium, potassium, folate, and phytonutrients.</a:t>
            </a:r>
          </a:p>
          <a:p>
            <a:r>
              <a:rPr lang="en-GB" dirty="0"/>
              <a:t>Apples: Apples are an excellent source of antioxidants, which combat free radicals. </a:t>
            </a:r>
          </a:p>
          <a:p>
            <a:r>
              <a:rPr lang="en-GB" dirty="0"/>
              <a:t>Kale: </a:t>
            </a:r>
            <a:r>
              <a:rPr lang="en-US" dirty="0"/>
              <a:t>Kale is a leafy green vegetable that offers a wide range of different nutrients. For example, this powerfully nutritious plant is an excellent source of vitamins C and K.</a:t>
            </a:r>
            <a:endParaRPr lang="en-GB" dirty="0"/>
          </a:p>
          <a:p>
            <a:r>
              <a:rPr lang="en-GB" dirty="0"/>
              <a:t>Blueberries: </a:t>
            </a:r>
            <a:r>
              <a:rPr lang="en-US" dirty="0"/>
              <a:t>Blueberries provide substantial amounts of fiber, antioxidants, and phytonutrients. Unlike minerals and vitamins, phytonutrients are not essential for survival. However, they may help prevent disease and maintain vital bodily functions.</a:t>
            </a:r>
            <a:endParaRPr lang="en-GB" dirty="0"/>
          </a:p>
          <a:p>
            <a:r>
              <a:rPr lang="en-GB" dirty="0"/>
              <a:t>Avocados: </a:t>
            </a:r>
            <a:r>
              <a:rPr lang="en-US" dirty="0"/>
              <a:t>Some people avoid consuming avocados due to their high fat content. However, avocados provide healthful fats, as well as B vitamins, vitamin K, and vitamin E. Avocados are also a good source of fiber.</a:t>
            </a:r>
            <a:endParaRPr lang="en-GB" dirty="0"/>
          </a:p>
          <a:p>
            <a:r>
              <a:rPr lang="en-GB" dirty="0"/>
              <a:t>Leafy green vegetables: </a:t>
            </a:r>
            <a:r>
              <a:rPr lang="en-US" dirty="0"/>
              <a:t>Spinach is an example of a leafy green with antioxidant content, especially when it is raw, steamed, or very lightly boiled. It is a good source of vitamins A, B-6, C, E, and K.</a:t>
            </a:r>
            <a:endParaRPr lang="en-GB" dirty="0"/>
          </a:p>
          <a:p>
            <a:r>
              <a:rPr lang="en-GB" dirty="0"/>
              <a:t>Sweet potatoes: Sweet potatoes provide dietary </a:t>
            </a:r>
            <a:r>
              <a:rPr lang="en-GB" dirty="0" err="1"/>
              <a:t>fiber</a:t>
            </a:r>
            <a:r>
              <a:rPr lang="en-GB" dirty="0"/>
              <a:t>, vitamin A, vitamin C, vitamin B-6, and potassium.</a:t>
            </a:r>
          </a:p>
        </p:txBody>
      </p:sp>
    </p:spTree>
    <p:extLst>
      <p:ext uri="{BB962C8B-B14F-4D97-AF65-F5344CB8AC3E}">
        <p14:creationId xmlns:p14="http://schemas.microsoft.com/office/powerpoint/2010/main" val="19615657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3F664-9FAC-4CBD-8E08-707DFF72CC67}"/>
              </a:ext>
            </a:extLst>
          </p:cNvPr>
          <p:cNvSpPr>
            <a:spLocks noGrp="1"/>
          </p:cNvSpPr>
          <p:nvPr>
            <p:ph type="title"/>
          </p:nvPr>
        </p:nvSpPr>
        <p:spPr/>
        <p:txBody>
          <a:bodyPr/>
          <a:lstStyle/>
          <a:p>
            <a:r>
              <a:rPr lang="en-US" dirty="0"/>
              <a:t>What foods are bad for you?</a:t>
            </a:r>
            <a:endParaRPr lang="en-GB" dirty="0"/>
          </a:p>
        </p:txBody>
      </p:sp>
      <p:sp>
        <p:nvSpPr>
          <p:cNvPr id="3" name="Content Placeholder 2">
            <a:extLst>
              <a:ext uri="{FF2B5EF4-FFF2-40B4-BE49-F238E27FC236}">
                <a16:creationId xmlns:a16="http://schemas.microsoft.com/office/drawing/2014/main" id="{52571B71-83D0-4B8A-A934-FA74C502F89E}"/>
              </a:ext>
            </a:extLst>
          </p:cNvPr>
          <p:cNvSpPr>
            <a:spLocks noGrp="1"/>
          </p:cNvSpPr>
          <p:nvPr>
            <p:ph idx="1"/>
          </p:nvPr>
        </p:nvSpPr>
        <p:spPr/>
        <p:txBody>
          <a:bodyPr>
            <a:normAutofit fontScale="85000" lnSpcReduction="10000"/>
          </a:bodyPr>
          <a:lstStyle/>
          <a:p>
            <a:r>
              <a:rPr lang="en-US" dirty="0"/>
              <a:t>Hot Dogs: Processed meats in general are just one of the worst things you can put into your body. They're high in sodium and saturated fats (not the good kind, like those found in coconut) and filled with sodium nitrite (a commonly used preservative that adds color and flavor to meats) and often other chemicals and dyes.</a:t>
            </a:r>
          </a:p>
          <a:p>
            <a:r>
              <a:rPr lang="en-US" dirty="0"/>
              <a:t>Pretzels: They have no fiber, no protein and no healthy fat to keep you satisfied or add health benefits to the calories you’re consuming. Instead, go for a small handful of nuts or other snacks full of fiber. Data indicates diets rich in high-fiber whole grains are associated with a lower risk of coronary heart disease (CHD) and type 2 diabetes. It’s also been shown that people who consume whole grains versus refined have better lipid profiles and glycemic control.</a:t>
            </a:r>
          </a:p>
          <a:p>
            <a:r>
              <a:rPr lang="en-US" dirty="0"/>
              <a:t>Diet Soda: Diet soda has also been linked to an increased risk of metabolic syndrome, when compared to regular soda. No, I'm not telling you to go grab a Sprite or regular Coke. Swap out the diet soda for club soda bubbles instead.</a:t>
            </a:r>
          </a:p>
          <a:p>
            <a:endParaRPr lang="en-US" dirty="0"/>
          </a:p>
          <a:p>
            <a:endParaRPr lang="en-GB" dirty="0"/>
          </a:p>
        </p:txBody>
      </p:sp>
    </p:spTree>
    <p:extLst>
      <p:ext uri="{BB962C8B-B14F-4D97-AF65-F5344CB8AC3E}">
        <p14:creationId xmlns:p14="http://schemas.microsoft.com/office/powerpoint/2010/main" val="31793426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FB3A9-BD96-44D9-8A28-55EE50DB5C51}"/>
              </a:ext>
            </a:extLst>
          </p:cNvPr>
          <p:cNvSpPr>
            <a:spLocks noGrp="1"/>
          </p:cNvSpPr>
          <p:nvPr>
            <p:ph type="title"/>
          </p:nvPr>
        </p:nvSpPr>
        <p:spPr/>
        <p:txBody>
          <a:bodyPr/>
          <a:lstStyle/>
          <a:p>
            <a:r>
              <a:rPr lang="en-US" dirty="0"/>
              <a:t>Questionnaire</a:t>
            </a:r>
            <a:endParaRPr lang="en-GB" dirty="0"/>
          </a:p>
        </p:txBody>
      </p:sp>
      <p:sp>
        <p:nvSpPr>
          <p:cNvPr id="3" name="Content Placeholder 2">
            <a:extLst>
              <a:ext uri="{FF2B5EF4-FFF2-40B4-BE49-F238E27FC236}">
                <a16:creationId xmlns:a16="http://schemas.microsoft.com/office/drawing/2014/main" id="{3D74200B-018F-4177-8D26-B911E71515BA}"/>
              </a:ext>
            </a:extLst>
          </p:cNvPr>
          <p:cNvSpPr>
            <a:spLocks noGrp="1"/>
          </p:cNvSpPr>
          <p:nvPr>
            <p:ph idx="1"/>
          </p:nvPr>
        </p:nvSpPr>
        <p:spPr/>
        <p:txBody>
          <a:bodyPr/>
          <a:lstStyle/>
          <a:p>
            <a:r>
              <a:rPr lang="en-GB" dirty="0"/>
              <a:t>https://forms.office.com/Pages/ResponsePage.aspx?id=IAGE_1JSDkqZLV4bzCrQ8IlaoYbTiBdMrVzRWO63ZaNUOVdPQ1RZMkVLMk02NjQ4MjRRVDQ0MEJWTS4u</a:t>
            </a:r>
          </a:p>
        </p:txBody>
      </p:sp>
    </p:spTree>
    <p:extLst>
      <p:ext uri="{BB962C8B-B14F-4D97-AF65-F5344CB8AC3E}">
        <p14:creationId xmlns:p14="http://schemas.microsoft.com/office/powerpoint/2010/main" val="2215508500"/>
      </p:ext>
    </p:extLst>
  </p:cSld>
  <p:clrMapOvr>
    <a:masterClrMapping/>
  </p:clrMapOvr>
</p:sld>
</file>

<file path=ppt/theme/theme1.xml><?xml version="1.0" encoding="utf-8"?>
<a:theme xmlns:a="http://schemas.openxmlformats.org/drawingml/2006/main" name="ChronicleVTI">
  <a:themeElements>
    <a:clrScheme name="AnalogousFromDarkSeedLeftStep">
      <a:dk1>
        <a:srgbClr val="000000"/>
      </a:dk1>
      <a:lt1>
        <a:srgbClr val="FFFFFF"/>
      </a:lt1>
      <a:dk2>
        <a:srgbClr val="323820"/>
      </a:dk2>
      <a:lt2>
        <a:srgbClr val="E8E2E2"/>
      </a:lt2>
      <a:accent1>
        <a:srgbClr val="30B2AA"/>
      </a:accent1>
      <a:accent2>
        <a:srgbClr val="25B871"/>
      </a:accent2>
      <a:accent3>
        <a:srgbClr val="32B93F"/>
      </a:accent3>
      <a:accent4>
        <a:srgbClr val="52B625"/>
      </a:accent4>
      <a:accent5>
        <a:srgbClr val="8AAB2E"/>
      </a:accent5>
      <a:accent6>
        <a:srgbClr val="B59F24"/>
      </a:accent6>
      <a:hlink>
        <a:srgbClr val="638C2E"/>
      </a:hlink>
      <a:folHlink>
        <a:srgbClr val="7F7F7F"/>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ronicleVTI" id="{508E4D90-5116-4BF0-876B-3F422DD1F65F}" vid="{AA21DC3D-92A8-43A4-8358-ED428371CD55}"/>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325E100519F324B924EAA52D502CFF6" ma:contentTypeVersion="11" ma:contentTypeDescription="Create a new document." ma:contentTypeScope="" ma:versionID="84c9b2193c39630d30e1ba7e0e1090ed">
  <xsd:schema xmlns:xsd="http://www.w3.org/2001/XMLSchema" xmlns:xs="http://www.w3.org/2001/XMLSchema" xmlns:p="http://schemas.microsoft.com/office/2006/metadata/properties" xmlns:ns3="7ac2e845-e209-4bd0-8853-f0a40aad2acd" xmlns:ns4="9a569939-0db0-4e3c-aef4-73f7d3b1dd8b" targetNamespace="http://schemas.microsoft.com/office/2006/metadata/properties" ma:root="true" ma:fieldsID="d0f3f6c7ceec76639cce84c43032c5c0" ns3:_="" ns4:_="">
    <xsd:import namespace="7ac2e845-e209-4bd0-8853-f0a40aad2acd"/>
    <xsd:import namespace="9a569939-0db0-4e3c-aef4-73f7d3b1dd8b"/>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c2e845-e209-4bd0-8853-f0a40aad2ac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a569939-0db0-4e3c-aef4-73f7d3b1dd8b"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4.xml><?xml version="1.0" encoding="utf-8"?>
<Control xmlns="http://schemas.microsoft.com/VisualStudio/2011/storyboarding/control">
  <Id Name="078dc333-06f2-417a-a779-eb5c8bd23716" Revision="1" Stencil="System.MyShapes" StencilVersion="1.0"/>
</Control>
</file>

<file path=customXml/itemProps1.xml><?xml version="1.0" encoding="utf-8"?>
<ds:datastoreItem xmlns:ds="http://schemas.openxmlformats.org/officeDocument/2006/customXml" ds:itemID="{C32CEA8E-7CA6-46E9-8C16-FFB4E85521E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c2e845-e209-4bd0-8853-f0a40aad2acd"/>
    <ds:schemaRef ds:uri="9a569939-0db0-4e3c-aef4-73f7d3b1dd8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B1E8BFB-2D7D-4F2F-9C4F-3F44BE99AE54}">
  <ds:schemaRefs>
    <ds:schemaRef ds:uri="http://schemas.microsoft.com/sharepoint/v3/contenttype/forms"/>
  </ds:schemaRefs>
</ds:datastoreItem>
</file>

<file path=customXml/itemProps3.xml><?xml version="1.0" encoding="utf-8"?>
<ds:datastoreItem xmlns:ds="http://schemas.openxmlformats.org/officeDocument/2006/customXml" ds:itemID="{7C8379A2-477B-4A46-8B6F-765DD066DB6C}">
  <ds:schemaRefs>
    <ds:schemaRef ds:uri="http://purl.org/dc/terms/"/>
    <ds:schemaRef ds:uri="9a569939-0db0-4e3c-aef4-73f7d3b1dd8b"/>
    <ds:schemaRef ds:uri="http://schemas.microsoft.com/office/2006/metadata/properties"/>
    <ds:schemaRef ds:uri="http://purl.org/dc/elements/1.1/"/>
    <ds:schemaRef ds:uri="http://schemas.openxmlformats.org/package/2006/metadata/core-properties"/>
    <ds:schemaRef ds:uri="http://schemas.microsoft.com/office/2006/documentManagement/types"/>
    <ds:schemaRef ds:uri="http://purl.org/dc/dcmitype/"/>
    <ds:schemaRef ds:uri="http://schemas.microsoft.com/office/infopath/2007/PartnerControls"/>
    <ds:schemaRef ds:uri="7ac2e845-e209-4bd0-8853-f0a40aad2acd"/>
    <ds:schemaRef ds:uri="http://www.w3.org/XML/1998/namespace"/>
  </ds:schemaRefs>
</ds:datastoreItem>
</file>

<file path=customXml/itemProps4.xml><?xml version="1.0" encoding="utf-8"?>
<ds:datastoreItem xmlns:ds="http://schemas.openxmlformats.org/officeDocument/2006/customXml" ds:itemID="{80AD1280-5C03-435B-91D4-4B13F6A09D74}">
  <ds:schemaRefs>
    <ds:schemaRef ds:uri="http://schemas.microsoft.com/VisualStudio/2011/storyboarding/control"/>
  </ds:schemaRefs>
</ds:datastoreItem>
</file>

<file path=docProps/app.xml><?xml version="1.0" encoding="utf-8"?>
<Properties xmlns="http://schemas.openxmlformats.org/officeDocument/2006/extended-properties" xmlns:vt="http://schemas.openxmlformats.org/officeDocument/2006/docPropsVTypes">
  <TotalTime>85</TotalTime>
  <Words>585</Words>
  <Application>Microsoft Office PowerPoint</Application>
  <PresentationFormat>Widescreen</PresentationFormat>
  <Paragraphs>21</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Calisto MT</vt:lpstr>
      <vt:lpstr>GDS Transport</vt:lpstr>
      <vt:lpstr>Univers Condensed</vt:lpstr>
      <vt:lpstr>ChronicleVTI</vt:lpstr>
      <vt:lpstr>Health and Wellbeing</vt:lpstr>
      <vt:lpstr>Mental health</vt:lpstr>
      <vt:lpstr>Impact of COVID-19 </vt:lpstr>
      <vt:lpstr>What foods are good for you?</vt:lpstr>
      <vt:lpstr>What foods are bad for you?</vt:lpstr>
      <vt:lpstr>Questionnaire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Health and Wellbeing</dc:title>
  <dc:creator>Sebastian Archer</dc:creator>
  <cp:lastModifiedBy>Sebastian Archer</cp:lastModifiedBy>
  <cp:revision>6</cp:revision>
  <dcterms:created xsi:type="dcterms:W3CDTF">2022-03-31T09:32:09Z</dcterms:created>
  <dcterms:modified xsi:type="dcterms:W3CDTF">2022-05-09T14:11:33Z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0x010100E325E100519F324B924EAA52D502CFF6</vt:lpwstr>
  </property>
  <property fmtid="{D5CDD505-2E9C-101B-9397-08002B2CF9AE}" pid="3" name="Tfs.LastKnownPath">
    <vt:lpwstr>https://gwent-my.sharepoint.com/personal/10257042_coleggwent_ac_uk/Documents/Level 2 ICT/Agored/Health and Wellbeing 2.pptx</vt:lpwstr>
  </property>
  <property fmtid="{D5CDD505-2E9C-101B-9397-08002B2CF9AE}" pid="4" name="Tfs.IsStoryboard">
    <vt:bool>true</vt:bool>
  </property>
</Properties>
</file>